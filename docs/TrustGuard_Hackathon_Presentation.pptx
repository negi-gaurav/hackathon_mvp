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645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46720" y="0"/>
            <a:ext cx="4142232" cy="68580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412480" y="0"/>
            <a:ext cx="3776472" cy="6858000"/>
          </a:xfrm>
          <a:prstGeom prst="rect">
            <a:avLst/>
          </a:prstGeom>
          <a:solidFill>
            <a:srgbClr val="00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7315200" cy="1280160"/>
          </a:xfrm>
          <a:prstGeom prst="rect">
            <a:avLst/>
          </a:prstGeom>
          <a:noFill/>
        </p:spPr>
        <p:txBody>
          <a:bodyPr wrap="square">
            <a:spAutoFit/>
          </a:bodyPr>
          <a:lstStyle/>
          <a:p>
            <a:pPr algn="l"/>
            <a:r>
              <a:rPr sz="6400" b="1" i="0">
                <a:solidFill>
                  <a:srgbClr val="FFFFFF"/>
                </a:solidFill>
                <a:latin typeface="Calibri"/>
              </a:rPr>
              <a:t>TrustGuard</a:t>
            </a:r>
          </a:p>
        </p:txBody>
      </p:sp>
      <p:sp>
        <p:nvSpPr>
          <p:cNvPr id="7" name="TextBox 6"/>
          <p:cNvSpPr txBox="1"/>
          <p:nvPr/>
        </p:nvSpPr>
        <p:spPr>
          <a:xfrm>
            <a:off x="640080" y="2651760"/>
            <a:ext cx="7132320" cy="1097280"/>
          </a:xfrm>
          <a:prstGeom prst="rect">
            <a:avLst/>
          </a:prstGeom>
          <a:noFill/>
        </p:spPr>
        <p:txBody>
          <a:bodyPr wrap="square">
            <a:spAutoFit/>
          </a:bodyPr>
          <a:lstStyle/>
          <a:p>
            <a:pPr algn="l"/>
            <a:r>
              <a:rPr sz="2200" b="0" i="0">
                <a:solidFill>
                  <a:srgbClr val="E5F2FF"/>
                </a:solidFill>
                <a:latin typeface="Calibri"/>
              </a:rPr>
              <a:t>AI-Powered Synthetic Media Detection
for KYC &amp; Identity Verification</a:t>
            </a:r>
          </a:p>
        </p:txBody>
      </p:sp>
      <p:sp>
        <p:nvSpPr>
          <p:cNvPr id="8" name="Rectangle 7"/>
          <p:cNvSpPr/>
          <p:nvPr/>
        </p:nvSpPr>
        <p:spPr>
          <a:xfrm>
            <a:off x="640080" y="3931920"/>
            <a:ext cx="3657600"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114800"/>
            <a:ext cx="6400800" cy="365760"/>
          </a:xfrm>
          <a:prstGeom prst="rect">
            <a:avLst/>
          </a:prstGeom>
          <a:noFill/>
        </p:spPr>
        <p:txBody>
          <a:bodyPr wrap="square">
            <a:spAutoFit/>
          </a:bodyPr>
          <a:lstStyle/>
          <a:p>
            <a:pPr algn="l"/>
            <a:r>
              <a:rPr sz="1300" b="0" i="0">
                <a:solidFill>
                  <a:srgbClr val="888888"/>
                </a:solidFill>
                <a:latin typeface="Calibri"/>
              </a:rPr>
              <a:t>Citibank AI Hackathon  ·  February 2026</a:t>
            </a:r>
          </a:p>
        </p:txBody>
      </p:sp>
      <p:sp>
        <p:nvSpPr>
          <p:cNvPr id="10" name="TextBox 9"/>
          <p:cNvSpPr txBox="1"/>
          <p:nvPr/>
        </p:nvSpPr>
        <p:spPr>
          <a:xfrm>
            <a:off x="640080" y="4572000"/>
            <a:ext cx="6858000" cy="822960"/>
          </a:xfrm>
          <a:prstGeom prst="rect">
            <a:avLst/>
          </a:prstGeom>
          <a:noFill/>
        </p:spPr>
        <p:txBody>
          <a:bodyPr wrap="square">
            <a:spAutoFit/>
          </a:bodyPr>
          <a:lstStyle/>
          <a:p>
            <a:pPr algn="l"/>
            <a:r>
              <a:rPr sz="1200" b="0" i="0">
                <a:solidFill>
                  <a:srgbClr val="AACCFF"/>
                </a:solidFill>
                <a:latin typeface="Calibri"/>
              </a:rPr>
              <a:t>Protecting CitiDirect® KYC Onboarding
against Deepfakes, Synthetic IDs &amp; AI-Generated Documents</a:t>
            </a:r>
          </a:p>
        </p:txBody>
      </p:sp>
      <p:sp>
        <p:nvSpPr>
          <p:cNvPr id="11" name="TextBox 10"/>
          <p:cNvSpPr txBox="1"/>
          <p:nvPr/>
        </p:nvSpPr>
        <p:spPr>
          <a:xfrm>
            <a:off x="8595360" y="1645920"/>
            <a:ext cx="2926080" cy="914400"/>
          </a:xfrm>
          <a:prstGeom prst="rect">
            <a:avLst/>
          </a:prstGeom>
          <a:noFill/>
        </p:spPr>
        <p:txBody>
          <a:bodyPr wrap="square">
            <a:spAutoFit/>
          </a:bodyPr>
          <a:lstStyle/>
          <a:p>
            <a:pPr algn="ctr"/>
            <a:r>
              <a:rPr sz="1400" b="1" i="0">
                <a:solidFill>
                  <a:srgbClr val="FFFFFF"/>
                </a:solidFill>
                <a:latin typeface="Calibri"/>
              </a:rPr>
              <a:t>Problem
Statement</a:t>
            </a:r>
          </a:p>
        </p:txBody>
      </p:sp>
      <p:sp>
        <p:nvSpPr>
          <p:cNvPr id="12" name="TextBox 11"/>
          <p:cNvSpPr txBox="1"/>
          <p:nvPr/>
        </p:nvSpPr>
        <p:spPr>
          <a:xfrm>
            <a:off x="8321040" y="2606040"/>
            <a:ext cx="3474720" cy="1645920"/>
          </a:xfrm>
          <a:prstGeom prst="rect">
            <a:avLst/>
          </a:prstGeom>
          <a:noFill/>
        </p:spPr>
        <p:txBody>
          <a:bodyPr wrap="square">
            <a:spAutoFit/>
          </a:bodyPr>
          <a:lstStyle/>
          <a:p>
            <a:pPr algn="ctr"/>
            <a:r>
              <a:rPr sz="1100" b="0" i="0">
                <a:solidFill>
                  <a:srgbClr val="FFFFFF"/>
                </a:solidFill>
                <a:latin typeface="Calibri"/>
              </a:rPr>
              <a:t>Detect AI-generated content
(documents, images, audio)
in KYC workflows to restore
digital trust &amp; data authenticity.</a:t>
            </a:r>
          </a:p>
        </p:txBody>
      </p:sp>
      <p:sp>
        <p:nvSpPr>
          <p:cNvPr id="13" name="Rectangle 12"/>
          <p:cNvSpPr/>
          <p:nvPr/>
        </p:nvSpPr>
        <p:spPr>
          <a:xfrm>
            <a:off x="8366760" y="4480560"/>
            <a:ext cx="1143000" cy="502920"/>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4526280"/>
            <a:ext cx="1051560" cy="411480"/>
          </a:xfrm>
          <a:prstGeom prst="rect">
            <a:avLst/>
          </a:prstGeom>
          <a:noFill/>
        </p:spPr>
        <p:txBody>
          <a:bodyPr wrap="square">
            <a:spAutoFit/>
          </a:bodyPr>
          <a:lstStyle/>
          <a:p>
            <a:pPr algn="ctr"/>
            <a:r>
              <a:rPr sz="1100" b="1" i="0">
                <a:solidFill>
                  <a:srgbClr val="FFFFFF"/>
                </a:solidFill>
                <a:latin typeface="Calibri"/>
              </a:rPr>
              <a:t>Innovation
20%</a:t>
            </a:r>
          </a:p>
        </p:txBody>
      </p:sp>
      <p:sp>
        <p:nvSpPr>
          <p:cNvPr id="15" name="Rectangle 14"/>
          <p:cNvSpPr/>
          <p:nvPr/>
        </p:nvSpPr>
        <p:spPr>
          <a:xfrm>
            <a:off x="9601200" y="4480560"/>
            <a:ext cx="1143000" cy="502920"/>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46920" y="4526280"/>
            <a:ext cx="1051560" cy="411480"/>
          </a:xfrm>
          <a:prstGeom prst="rect">
            <a:avLst/>
          </a:prstGeom>
          <a:noFill/>
        </p:spPr>
        <p:txBody>
          <a:bodyPr wrap="square">
            <a:spAutoFit/>
          </a:bodyPr>
          <a:lstStyle/>
          <a:p>
            <a:pPr algn="ctr"/>
            <a:r>
              <a:rPr sz="1100" b="1" i="0">
                <a:solidFill>
                  <a:srgbClr val="FFFFFF"/>
                </a:solidFill>
                <a:latin typeface="Calibri"/>
              </a:rPr>
              <a:t>Impact
20%</a:t>
            </a:r>
          </a:p>
        </p:txBody>
      </p:sp>
      <p:sp>
        <p:nvSpPr>
          <p:cNvPr id="17" name="Rectangle 16"/>
          <p:cNvSpPr/>
          <p:nvPr/>
        </p:nvSpPr>
        <p:spPr>
          <a:xfrm>
            <a:off x="10835640" y="4480560"/>
            <a:ext cx="1143000" cy="502920"/>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81360" y="4526280"/>
            <a:ext cx="1051560" cy="411480"/>
          </a:xfrm>
          <a:prstGeom prst="rect">
            <a:avLst/>
          </a:prstGeom>
          <a:noFill/>
        </p:spPr>
        <p:txBody>
          <a:bodyPr wrap="square">
            <a:spAutoFit/>
          </a:bodyPr>
          <a:lstStyle/>
          <a:p>
            <a:pPr algn="ctr"/>
            <a:r>
              <a:rPr sz="1100" b="1" i="0">
                <a:solidFill>
                  <a:srgbClr val="FFFFFF"/>
                </a:solidFill>
                <a:latin typeface="Calibri"/>
              </a:rPr>
              <a:t>Execution
20%</a:t>
            </a:r>
          </a:p>
        </p:txBody>
      </p:sp>
      <p:sp>
        <p:nvSpPr>
          <p:cNvPr id="19" name="Rectangle 18"/>
          <p:cNvSpPr/>
          <p:nvPr/>
        </p:nvSpPr>
        <p:spPr>
          <a:xfrm>
            <a:off x="8366760" y="5074920"/>
            <a:ext cx="1143000" cy="502920"/>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5120640"/>
            <a:ext cx="1051560" cy="411480"/>
          </a:xfrm>
          <a:prstGeom prst="rect">
            <a:avLst/>
          </a:prstGeom>
          <a:noFill/>
        </p:spPr>
        <p:txBody>
          <a:bodyPr wrap="square">
            <a:spAutoFit/>
          </a:bodyPr>
          <a:lstStyle/>
          <a:p>
            <a:pPr algn="ctr"/>
            <a:r>
              <a:rPr sz="1100" b="1" i="0">
                <a:solidFill>
                  <a:srgbClr val="FFFFFF"/>
                </a:solidFill>
                <a:latin typeface="Calibri"/>
              </a:rPr>
              <a:t>Architecture
20%</a:t>
            </a:r>
          </a:p>
        </p:txBody>
      </p:sp>
      <p:sp>
        <p:nvSpPr>
          <p:cNvPr id="21" name="Rectangle 20"/>
          <p:cNvSpPr/>
          <p:nvPr/>
        </p:nvSpPr>
        <p:spPr>
          <a:xfrm>
            <a:off x="9601200" y="5074920"/>
            <a:ext cx="1143000" cy="502920"/>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46920" y="5120640"/>
            <a:ext cx="1051560" cy="411480"/>
          </a:xfrm>
          <a:prstGeom prst="rect">
            <a:avLst/>
          </a:prstGeom>
          <a:noFill/>
        </p:spPr>
        <p:txBody>
          <a:bodyPr wrap="square">
            <a:spAutoFit/>
          </a:bodyPr>
          <a:lstStyle/>
          <a:p>
            <a:pPr algn="ctr"/>
            <a:r>
              <a:rPr sz="1100" b="1" i="0">
                <a:solidFill>
                  <a:srgbClr val="FFFFFF"/>
                </a:solidFill>
                <a:latin typeface="Calibri"/>
              </a:rPr>
              <a:t>Presentation
20%</a:t>
            </a:r>
          </a:p>
        </p:txBody>
      </p:sp>
      <p:sp>
        <p:nvSpPr>
          <p:cNvPr id="23" name="Rectangle 22"/>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The Challenge We're Solving</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Hackathon Problem Statement — Digital Trust &amp; Data Authenticity</a:t>
            </a:r>
          </a:p>
        </p:txBody>
      </p:sp>
      <p:sp>
        <p:nvSpPr>
          <p:cNvPr id="6" name="Rectangle 5"/>
          <p:cNvSpPr/>
          <p:nvPr/>
        </p:nvSpPr>
        <p:spPr>
          <a:xfrm>
            <a:off x="457200" y="1280160"/>
            <a:ext cx="11274552" cy="256032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280160"/>
            <a:ext cx="109728" cy="256032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10789920" cy="2194560"/>
          </a:xfrm>
          <a:prstGeom prst="rect">
            <a:avLst/>
          </a:prstGeom>
          <a:noFill/>
        </p:spPr>
        <p:txBody>
          <a:bodyPr wrap="square">
            <a:spAutoFit/>
          </a:bodyPr>
          <a:lstStyle/>
          <a:p>
            <a:pPr algn="l"/>
            <a:r>
              <a:rPr sz="1500" b="0" i="1">
                <a:solidFill>
                  <a:srgbClr val="333333"/>
                </a:solidFill>
                <a:latin typeface="Calibri"/>
              </a:rPr>
              <a:t>"Develop an innovative solution that directly addresses the increasing challenge of synthetic media manipulation and embodies the principles of digital trust and data authenticity in critical client intake processes. The solution should focus on the robust detection of AI-generated content (including documents, images, and audio) within identity verification and Know Your Customer (KYC) workflows."</a:t>
            </a:r>
          </a:p>
        </p:txBody>
      </p:sp>
      <p:sp>
        <p:nvSpPr>
          <p:cNvPr id="9" name="TextBox 8"/>
          <p:cNvSpPr txBox="1"/>
          <p:nvPr/>
        </p:nvSpPr>
        <p:spPr>
          <a:xfrm>
            <a:off x="8686800" y="3749039"/>
            <a:ext cx="3200400" cy="365760"/>
          </a:xfrm>
          <a:prstGeom prst="rect">
            <a:avLst/>
          </a:prstGeom>
          <a:noFill/>
        </p:spPr>
        <p:txBody>
          <a:bodyPr wrap="square">
            <a:spAutoFit/>
          </a:bodyPr>
          <a:lstStyle/>
          <a:p>
            <a:pPr algn="r"/>
            <a:r>
              <a:rPr sz="1000" b="0" i="0">
                <a:solidFill>
                  <a:srgbClr val="888888"/>
                </a:solidFill>
                <a:latin typeface="Calibri"/>
              </a:rPr>
              <a:t>— Citibank AI Hackathon Problem Statement</a:t>
            </a:r>
          </a:p>
        </p:txBody>
      </p:sp>
      <p:sp>
        <p:nvSpPr>
          <p:cNvPr id="10" name="Rectangle 9"/>
          <p:cNvSpPr/>
          <p:nvPr/>
        </p:nvSpPr>
        <p:spPr>
          <a:xfrm>
            <a:off x="365760" y="4206240"/>
            <a:ext cx="11457432"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434840"/>
            <a:ext cx="3383280" cy="20116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544568"/>
            <a:ext cx="3108960" cy="457200"/>
          </a:xfrm>
          <a:prstGeom prst="rect">
            <a:avLst/>
          </a:prstGeom>
          <a:noFill/>
        </p:spPr>
        <p:txBody>
          <a:bodyPr wrap="square">
            <a:spAutoFit/>
          </a:bodyPr>
          <a:lstStyle/>
          <a:p>
            <a:pPr algn="l"/>
            <a:r>
              <a:rPr sz="1500" b="1" i="0">
                <a:solidFill>
                  <a:srgbClr val="FFFFFF"/>
                </a:solidFill>
                <a:latin typeface="Calibri"/>
              </a:rPr>
              <a:t>🔒  Digital Trust</a:t>
            </a:r>
          </a:p>
        </p:txBody>
      </p:sp>
      <p:sp>
        <p:nvSpPr>
          <p:cNvPr id="13" name="TextBox 12"/>
          <p:cNvSpPr txBox="1"/>
          <p:nvPr/>
        </p:nvSpPr>
        <p:spPr>
          <a:xfrm>
            <a:off x="777240" y="5074920"/>
            <a:ext cx="3108960" cy="1188720"/>
          </a:xfrm>
          <a:prstGeom prst="rect">
            <a:avLst/>
          </a:prstGeom>
          <a:noFill/>
        </p:spPr>
        <p:txBody>
          <a:bodyPr wrap="square">
            <a:spAutoFit/>
          </a:bodyPr>
          <a:lstStyle/>
          <a:p>
            <a:pPr algn="l"/>
            <a:r>
              <a:rPr sz="1200" b="0" i="0">
                <a:solidFill>
                  <a:srgbClr val="E5F2FF"/>
                </a:solidFill>
                <a:latin typeface="Calibri"/>
              </a:rPr>
              <a:t>Every document &amp; identity
claim must be verifiable
as genuine</a:t>
            </a:r>
          </a:p>
        </p:txBody>
      </p:sp>
      <p:sp>
        <p:nvSpPr>
          <p:cNvPr id="14" name="Rectangle 13"/>
          <p:cNvSpPr/>
          <p:nvPr/>
        </p:nvSpPr>
        <p:spPr>
          <a:xfrm>
            <a:off x="4389120" y="4434840"/>
            <a:ext cx="3383280" cy="20116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4544568"/>
            <a:ext cx="3108960" cy="457200"/>
          </a:xfrm>
          <a:prstGeom prst="rect">
            <a:avLst/>
          </a:prstGeom>
          <a:noFill/>
        </p:spPr>
        <p:txBody>
          <a:bodyPr wrap="square">
            <a:spAutoFit/>
          </a:bodyPr>
          <a:lstStyle/>
          <a:p>
            <a:pPr algn="l"/>
            <a:r>
              <a:rPr sz="1500" b="1" i="0">
                <a:solidFill>
                  <a:srgbClr val="FFFFFF"/>
                </a:solidFill>
                <a:latin typeface="Calibri"/>
              </a:rPr>
              <a:t>📄  Data Authenticity</a:t>
            </a:r>
          </a:p>
        </p:txBody>
      </p:sp>
      <p:sp>
        <p:nvSpPr>
          <p:cNvPr id="16" name="TextBox 15"/>
          <p:cNvSpPr txBox="1"/>
          <p:nvPr/>
        </p:nvSpPr>
        <p:spPr>
          <a:xfrm>
            <a:off x="4526280" y="5074920"/>
            <a:ext cx="3108960" cy="1188720"/>
          </a:xfrm>
          <a:prstGeom prst="rect">
            <a:avLst/>
          </a:prstGeom>
          <a:noFill/>
        </p:spPr>
        <p:txBody>
          <a:bodyPr wrap="square">
            <a:spAutoFit/>
          </a:bodyPr>
          <a:lstStyle/>
          <a:p>
            <a:pPr algn="l"/>
            <a:r>
              <a:rPr sz="1200" b="0" i="0">
                <a:solidFill>
                  <a:srgbClr val="E5F2FF"/>
                </a:solidFill>
                <a:latin typeface="Calibri"/>
              </a:rPr>
              <a:t>AI-generated content
must be detected before
entering KYC records</a:t>
            </a:r>
          </a:p>
        </p:txBody>
      </p:sp>
      <p:sp>
        <p:nvSpPr>
          <p:cNvPr id="17" name="Rectangle 16"/>
          <p:cNvSpPr/>
          <p:nvPr/>
        </p:nvSpPr>
        <p:spPr>
          <a:xfrm>
            <a:off x="8138159" y="4434840"/>
            <a:ext cx="3383280" cy="20116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4544568"/>
            <a:ext cx="3108960" cy="457200"/>
          </a:xfrm>
          <a:prstGeom prst="rect">
            <a:avLst/>
          </a:prstGeom>
          <a:noFill/>
        </p:spPr>
        <p:txBody>
          <a:bodyPr wrap="square">
            <a:spAutoFit/>
          </a:bodyPr>
          <a:lstStyle/>
          <a:p>
            <a:pPr algn="l"/>
            <a:r>
              <a:rPr sz="1500" b="1" i="0">
                <a:solidFill>
                  <a:srgbClr val="FFFFFF"/>
                </a:solidFill>
                <a:latin typeface="Calibri"/>
              </a:rPr>
              <a:t>🏦  Client Intake</a:t>
            </a:r>
          </a:p>
        </p:txBody>
      </p:sp>
      <p:sp>
        <p:nvSpPr>
          <p:cNvPr id="19" name="TextBox 18"/>
          <p:cNvSpPr txBox="1"/>
          <p:nvPr/>
        </p:nvSpPr>
        <p:spPr>
          <a:xfrm>
            <a:off x="8275319" y="5074920"/>
            <a:ext cx="3108960" cy="1188720"/>
          </a:xfrm>
          <a:prstGeom prst="rect">
            <a:avLst/>
          </a:prstGeom>
          <a:noFill/>
        </p:spPr>
        <p:txBody>
          <a:bodyPr wrap="square">
            <a:spAutoFit/>
          </a:bodyPr>
          <a:lstStyle/>
          <a:p>
            <a:pPr algn="l"/>
            <a:r>
              <a:rPr sz="1200" b="0" i="0">
                <a:solidFill>
                  <a:srgbClr val="E5F2FF"/>
                </a:solidFill>
                <a:latin typeface="Calibri"/>
              </a:rPr>
              <a:t>The onboarding pipeline
is the highest-value
target for fraudsters</a:t>
            </a:r>
          </a:p>
        </p:txBody>
      </p:sp>
      <p:sp>
        <p:nvSpPr>
          <p:cNvPr id="20" name="Rectangle 19"/>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The Threat Is Here — And It's Accelerating</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AI-generated fraud targeting financial services KYC, 2024–2025</a:t>
            </a:r>
          </a:p>
        </p:txBody>
      </p:sp>
      <p:sp>
        <p:nvSpPr>
          <p:cNvPr id="6" name="Rectangle 5"/>
          <p:cNvSpPr/>
          <p:nvPr/>
        </p:nvSpPr>
        <p:spPr>
          <a:xfrm>
            <a:off x="411480" y="1261872"/>
            <a:ext cx="3611880" cy="16916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3520440" cy="640080"/>
          </a:xfrm>
          <a:prstGeom prst="rect">
            <a:avLst/>
          </a:prstGeom>
          <a:noFill/>
        </p:spPr>
        <p:txBody>
          <a:bodyPr wrap="square">
            <a:spAutoFit/>
          </a:bodyPr>
          <a:lstStyle/>
          <a:p>
            <a:pPr algn="ctr"/>
            <a:r>
              <a:rPr sz="3000" b="1" i="0">
                <a:solidFill>
                  <a:srgbClr val="FFFFFF"/>
                </a:solidFill>
                <a:latin typeface="Calibri"/>
              </a:rPr>
              <a:t>+1,100%</a:t>
            </a:r>
          </a:p>
        </p:txBody>
      </p:sp>
      <p:sp>
        <p:nvSpPr>
          <p:cNvPr id="8" name="TextBox 7"/>
          <p:cNvSpPr txBox="1"/>
          <p:nvPr/>
        </p:nvSpPr>
        <p:spPr>
          <a:xfrm>
            <a:off x="457200" y="2039112"/>
            <a:ext cx="3520440" cy="502920"/>
          </a:xfrm>
          <a:prstGeom prst="rect">
            <a:avLst/>
          </a:prstGeom>
          <a:noFill/>
        </p:spPr>
        <p:txBody>
          <a:bodyPr wrap="square">
            <a:spAutoFit/>
          </a:bodyPr>
          <a:lstStyle/>
          <a:p>
            <a:pPr algn="ctr"/>
            <a:r>
              <a:rPr sz="1100" b="0" i="0">
                <a:solidFill>
                  <a:srgbClr val="FFFFFF"/>
                </a:solidFill>
                <a:latin typeface="Calibri"/>
              </a:rPr>
              <a:t>Deepfake fraud
attempts in the US
Q1 2025 vs Q1 2024</a:t>
            </a:r>
          </a:p>
        </p:txBody>
      </p:sp>
      <p:sp>
        <p:nvSpPr>
          <p:cNvPr id="9" name="Rectangle 8"/>
          <p:cNvSpPr/>
          <p:nvPr/>
        </p:nvSpPr>
        <p:spPr>
          <a:xfrm>
            <a:off x="4325112" y="1261872"/>
            <a:ext cx="3611880" cy="16916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70832" y="1371600"/>
            <a:ext cx="3520440" cy="640080"/>
          </a:xfrm>
          <a:prstGeom prst="rect">
            <a:avLst/>
          </a:prstGeom>
          <a:noFill/>
        </p:spPr>
        <p:txBody>
          <a:bodyPr wrap="square">
            <a:spAutoFit/>
          </a:bodyPr>
          <a:lstStyle/>
          <a:p>
            <a:pPr algn="ctr"/>
            <a:r>
              <a:rPr sz="3000" b="1" i="0">
                <a:solidFill>
                  <a:srgbClr val="FFFFFF"/>
                </a:solidFill>
                <a:latin typeface="Calibri"/>
              </a:rPr>
              <a:t>+300%</a:t>
            </a:r>
          </a:p>
        </p:txBody>
      </p:sp>
      <p:sp>
        <p:nvSpPr>
          <p:cNvPr id="11" name="TextBox 10"/>
          <p:cNvSpPr txBox="1"/>
          <p:nvPr/>
        </p:nvSpPr>
        <p:spPr>
          <a:xfrm>
            <a:off x="4370832" y="2039112"/>
            <a:ext cx="3520440" cy="502920"/>
          </a:xfrm>
          <a:prstGeom prst="rect">
            <a:avLst/>
          </a:prstGeom>
          <a:noFill/>
        </p:spPr>
        <p:txBody>
          <a:bodyPr wrap="square">
            <a:spAutoFit/>
          </a:bodyPr>
          <a:lstStyle/>
          <a:p>
            <a:pPr algn="ctr"/>
            <a:r>
              <a:rPr sz="1100" b="0" i="0">
                <a:solidFill>
                  <a:srgbClr val="FFFFFF"/>
                </a:solidFill>
                <a:latin typeface="Calibri"/>
              </a:rPr>
              <a:t>Synthetic-ID document
fraud YoY
Q1 2025</a:t>
            </a:r>
          </a:p>
        </p:txBody>
      </p:sp>
      <p:sp>
        <p:nvSpPr>
          <p:cNvPr id="12" name="Rectangle 11"/>
          <p:cNvSpPr/>
          <p:nvPr/>
        </p:nvSpPr>
        <p:spPr>
          <a:xfrm>
            <a:off x="8238744" y="1261872"/>
            <a:ext cx="3611880" cy="16916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4464" y="1371600"/>
            <a:ext cx="3520440" cy="640080"/>
          </a:xfrm>
          <a:prstGeom prst="rect">
            <a:avLst/>
          </a:prstGeom>
          <a:noFill/>
        </p:spPr>
        <p:txBody>
          <a:bodyPr wrap="square">
            <a:spAutoFit/>
          </a:bodyPr>
          <a:lstStyle/>
          <a:p>
            <a:pPr algn="ctr"/>
            <a:r>
              <a:rPr sz="3000" b="1" i="0">
                <a:solidFill>
                  <a:srgbClr val="FFFFFF"/>
                </a:solidFill>
                <a:latin typeface="Calibri"/>
              </a:rPr>
              <a:t>95%</a:t>
            </a:r>
          </a:p>
        </p:txBody>
      </p:sp>
      <p:sp>
        <p:nvSpPr>
          <p:cNvPr id="14" name="TextBox 13"/>
          <p:cNvSpPr txBox="1"/>
          <p:nvPr/>
        </p:nvSpPr>
        <p:spPr>
          <a:xfrm>
            <a:off x="8284464" y="2039112"/>
            <a:ext cx="3520440" cy="502920"/>
          </a:xfrm>
          <a:prstGeom prst="rect">
            <a:avLst/>
          </a:prstGeom>
          <a:noFill/>
        </p:spPr>
        <p:txBody>
          <a:bodyPr wrap="square">
            <a:spAutoFit/>
          </a:bodyPr>
          <a:lstStyle/>
          <a:p>
            <a:pPr algn="ctr"/>
            <a:r>
              <a:rPr sz="1100" b="0" i="0">
                <a:solidFill>
                  <a:srgbClr val="FFFFFF"/>
                </a:solidFill>
                <a:latin typeface="Calibri"/>
              </a:rPr>
              <a:t>of synthetic identities
go UNDETECTED at
onboarding</a:t>
            </a:r>
          </a:p>
        </p:txBody>
      </p:sp>
      <p:sp>
        <p:nvSpPr>
          <p:cNvPr id="15" name="Rectangle 14"/>
          <p:cNvSpPr/>
          <p:nvPr/>
        </p:nvSpPr>
        <p:spPr>
          <a:xfrm>
            <a:off x="411480" y="3136391"/>
            <a:ext cx="3611880" cy="16916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46120"/>
            <a:ext cx="3520440" cy="640080"/>
          </a:xfrm>
          <a:prstGeom prst="rect">
            <a:avLst/>
          </a:prstGeom>
          <a:noFill/>
        </p:spPr>
        <p:txBody>
          <a:bodyPr wrap="square">
            <a:spAutoFit/>
          </a:bodyPr>
          <a:lstStyle/>
          <a:p>
            <a:pPr algn="ctr"/>
            <a:r>
              <a:rPr sz="3000" b="1" i="0">
                <a:solidFill>
                  <a:srgbClr val="FFFFFF"/>
                </a:solidFill>
                <a:latin typeface="Calibri"/>
              </a:rPr>
              <a:t>$40B</a:t>
            </a:r>
          </a:p>
        </p:txBody>
      </p:sp>
      <p:sp>
        <p:nvSpPr>
          <p:cNvPr id="17" name="TextBox 16"/>
          <p:cNvSpPr txBox="1"/>
          <p:nvPr/>
        </p:nvSpPr>
        <p:spPr>
          <a:xfrm>
            <a:off x="457200" y="3913631"/>
            <a:ext cx="3520440" cy="502920"/>
          </a:xfrm>
          <a:prstGeom prst="rect">
            <a:avLst/>
          </a:prstGeom>
          <a:noFill/>
        </p:spPr>
        <p:txBody>
          <a:bodyPr wrap="square">
            <a:spAutoFit/>
          </a:bodyPr>
          <a:lstStyle/>
          <a:p>
            <a:pPr algn="ctr"/>
            <a:r>
              <a:rPr sz="1100" b="0" i="0">
                <a:solidFill>
                  <a:srgbClr val="FFFFFF"/>
                </a:solidFill>
                <a:latin typeface="Calibri"/>
              </a:rPr>
              <a:t>Projected US AI
fraud losses by 2027
(Deloitte)</a:t>
            </a:r>
          </a:p>
        </p:txBody>
      </p:sp>
      <p:sp>
        <p:nvSpPr>
          <p:cNvPr id="18" name="Rectangle 17"/>
          <p:cNvSpPr/>
          <p:nvPr/>
        </p:nvSpPr>
        <p:spPr>
          <a:xfrm>
            <a:off x="4325112" y="3136391"/>
            <a:ext cx="3611880" cy="1691640"/>
          </a:xfrm>
          <a:prstGeom prst="rect">
            <a:avLst/>
          </a:prstGeom>
          <a:solidFill>
            <a:srgbClr val="88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0832" y="3246120"/>
            <a:ext cx="3520440" cy="640080"/>
          </a:xfrm>
          <a:prstGeom prst="rect">
            <a:avLst/>
          </a:prstGeom>
          <a:noFill/>
        </p:spPr>
        <p:txBody>
          <a:bodyPr wrap="square">
            <a:spAutoFit/>
          </a:bodyPr>
          <a:lstStyle/>
          <a:p>
            <a:pPr algn="ctr"/>
            <a:r>
              <a:rPr sz="3000" b="1" i="0">
                <a:solidFill>
                  <a:srgbClr val="FFFFFF"/>
                </a:solidFill>
                <a:latin typeface="Calibri"/>
              </a:rPr>
              <a:t>$4.5B</a:t>
            </a:r>
          </a:p>
        </p:txBody>
      </p:sp>
      <p:sp>
        <p:nvSpPr>
          <p:cNvPr id="20" name="TextBox 19"/>
          <p:cNvSpPr txBox="1"/>
          <p:nvPr/>
        </p:nvSpPr>
        <p:spPr>
          <a:xfrm>
            <a:off x="4370832" y="3913631"/>
            <a:ext cx="3520440" cy="502920"/>
          </a:xfrm>
          <a:prstGeom prst="rect">
            <a:avLst/>
          </a:prstGeom>
          <a:noFill/>
        </p:spPr>
        <p:txBody>
          <a:bodyPr wrap="square">
            <a:spAutoFit/>
          </a:bodyPr>
          <a:lstStyle/>
          <a:p>
            <a:pPr algn="ctr"/>
            <a:r>
              <a:rPr sz="1100" b="0" i="0">
                <a:solidFill>
                  <a:srgbClr val="FFFFFF"/>
                </a:solidFill>
                <a:latin typeface="Calibri"/>
              </a:rPr>
              <a:t>Global AML/KYC
penalties levied
in 2024</a:t>
            </a:r>
          </a:p>
        </p:txBody>
      </p:sp>
      <p:sp>
        <p:nvSpPr>
          <p:cNvPr id="21" name="Rectangle 20"/>
          <p:cNvSpPr/>
          <p:nvPr/>
        </p:nvSpPr>
        <p:spPr>
          <a:xfrm>
            <a:off x="8238744" y="3136391"/>
            <a:ext cx="3611880" cy="169164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84464" y="3246120"/>
            <a:ext cx="3520440" cy="640080"/>
          </a:xfrm>
          <a:prstGeom prst="rect">
            <a:avLst/>
          </a:prstGeom>
          <a:noFill/>
        </p:spPr>
        <p:txBody>
          <a:bodyPr wrap="square">
            <a:spAutoFit/>
          </a:bodyPr>
          <a:lstStyle/>
          <a:p>
            <a:pPr algn="ctr"/>
            <a:r>
              <a:rPr sz="3000" b="1" i="0">
                <a:solidFill>
                  <a:srgbClr val="FFFFFF"/>
                </a:solidFill>
                <a:latin typeface="Calibri"/>
              </a:rPr>
              <a:t>8 Million</a:t>
            </a:r>
          </a:p>
        </p:txBody>
      </p:sp>
      <p:sp>
        <p:nvSpPr>
          <p:cNvPr id="23" name="TextBox 22"/>
          <p:cNvSpPr txBox="1"/>
          <p:nvPr/>
        </p:nvSpPr>
        <p:spPr>
          <a:xfrm>
            <a:off x="8284464" y="3913631"/>
            <a:ext cx="3520440" cy="502920"/>
          </a:xfrm>
          <a:prstGeom prst="rect">
            <a:avLst/>
          </a:prstGeom>
          <a:noFill/>
        </p:spPr>
        <p:txBody>
          <a:bodyPr wrap="square">
            <a:spAutoFit/>
          </a:bodyPr>
          <a:lstStyle/>
          <a:p>
            <a:pPr algn="ctr"/>
            <a:r>
              <a:rPr sz="1100" b="0" i="0">
                <a:solidFill>
                  <a:srgbClr val="FFFFFF"/>
                </a:solidFill>
                <a:latin typeface="Calibri"/>
              </a:rPr>
              <a:t>Deepfake files in
circulation today
(500K in 2023)</a:t>
            </a:r>
          </a:p>
        </p:txBody>
      </p:sp>
      <p:sp>
        <p:nvSpPr>
          <p:cNvPr id="24" name="Rectangle 23"/>
          <p:cNvSpPr/>
          <p:nvPr/>
        </p:nvSpPr>
        <p:spPr>
          <a:xfrm>
            <a:off x="411480" y="5074920"/>
            <a:ext cx="11365992" cy="141732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5074920"/>
            <a:ext cx="109728" cy="1417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166360"/>
            <a:ext cx="10972800" cy="1188720"/>
          </a:xfrm>
          <a:prstGeom prst="rect">
            <a:avLst/>
          </a:prstGeom>
          <a:noFill/>
        </p:spPr>
        <p:txBody>
          <a:bodyPr wrap="square">
            <a:spAutoFit/>
          </a:bodyPr>
          <a:lstStyle/>
          <a:p>
            <a:pPr algn="l"/>
            <a:r>
              <a:rPr sz="1200" b="0" i="1">
                <a:solidFill>
                  <a:srgbClr val="333333"/>
                </a:solidFill>
                <a:latin typeface="Calibri"/>
              </a:rPr>
              <a:t>⚠  "Only 0.1% of people correctly identify deepfakes — making human review effectively useless as a standalone defence."  |  50% of banks reported increased fraud in 2024  |  Average loss per financial firm: $600,000+</a:t>
            </a:r>
          </a:p>
        </p:txBody>
      </p:sp>
      <p:sp>
        <p:nvSpPr>
          <p:cNvPr id="27" name="Rectangle 26"/>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How Attackers Exploit KYC Workflows</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Four primary AI-enabled attack vectors targeting client onboarding</a:t>
            </a:r>
          </a:p>
        </p:txBody>
      </p:sp>
      <p:sp>
        <p:nvSpPr>
          <p:cNvPr id="6" name="Rectangle 5"/>
          <p:cNvSpPr/>
          <p:nvPr/>
        </p:nvSpPr>
        <p:spPr>
          <a:xfrm>
            <a:off x="365760" y="1234440"/>
            <a:ext cx="5623560" cy="25146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457200" cy="251460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07592"/>
            <a:ext cx="384048" cy="411480"/>
          </a:xfrm>
          <a:prstGeom prst="rect">
            <a:avLst/>
          </a:prstGeom>
          <a:noFill/>
        </p:spPr>
        <p:txBody>
          <a:bodyPr wrap="square">
            <a:spAutoFit/>
          </a:bodyPr>
          <a:lstStyle/>
          <a:p>
            <a:pPr algn="ctr"/>
            <a:r>
              <a:rPr sz="1600" b="1" i="0">
                <a:solidFill>
                  <a:srgbClr val="FFFFFF"/>
                </a:solidFill>
                <a:latin typeface="Calibri"/>
              </a:rPr>
              <a:t>01</a:t>
            </a:r>
          </a:p>
        </p:txBody>
      </p:sp>
      <p:sp>
        <p:nvSpPr>
          <p:cNvPr id="9" name="TextBox 8"/>
          <p:cNvSpPr txBox="1"/>
          <p:nvPr/>
        </p:nvSpPr>
        <p:spPr>
          <a:xfrm>
            <a:off x="914400" y="1325880"/>
            <a:ext cx="4937760" cy="594360"/>
          </a:xfrm>
          <a:prstGeom prst="rect">
            <a:avLst/>
          </a:prstGeom>
          <a:noFill/>
        </p:spPr>
        <p:txBody>
          <a:bodyPr wrap="square">
            <a:spAutoFit/>
          </a:bodyPr>
          <a:lstStyle/>
          <a:p>
            <a:pPr algn="l"/>
            <a:r>
              <a:rPr sz="1400" b="1" i="0">
                <a:solidFill>
                  <a:srgbClr val="002266"/>
                </a:solidFill>
                <a:latin typeface="Calibri"/>
              </a:rPr>
              <a:t>Synthetic Identity
Fraud</a:t>
            </a:r>
          </a:p>
        </p:txBody>
      </p:sp>
      <p:sp>
        <p:nvSpPr>
          <p:cNvPr id="10" name="TextBox 9"/>
          <p:cNvSpPr txBox="1"/>
          <p:nvPr/>
        </p:nvSpPr>
        <p:spPr>
          <a:xfrm>
            <a:off x="914400" y="1947672"/>
            <a:ext cx="4846320" cy="347472"/>
          </a:xfrm>
          <a:prstGeom prst="rect">
            <a:avLst/>
          </a:prstGeom>
          <a:noFill/>
        </p:spPr>
        <p:txBody>
          <a:bodyPr wrap="square">
            <a:spAutoFit/>
          </a:bodyPr>
          <a:lstStyle/>
          <a:p>
            <a:pPr algn="l"/>
            <a:r>
              <a:rPr sz="1050" b="0" i="0">
                <a:solidFill>
                  <a:srgbClr val="333333"/>
                </a:solidFill>
                <a:latin typeface="Calibri"/>
              </a:rPr>
              <a:t>• GenAI creates fake government IDs,</a:t>
            </a:r>
          </a:p>
        </p:txBody>
      </p:sp>
      <p:sp>
        <p:nvSpPr>
          <p:cNvPr id="11" name="TextBox 10"/>
          <p:cNvSpPr txBox="1"/>
          <p:nvPr/>
        </p:nvSpPr>
        <p:spPr>
          <a:xfrm>
            <a:off x="914400" y="2286000"/>
            <a:ext cx="4846320" cy="347472"/>
          </a:xfrm>
          <a:prstGeom prst="rect">
            <a:avLst/>
          </a:prstGeom>
          <a:noFill/>
        </p:spPr>
        <p:txBody>
          <a:bodyPr wrap="square">
            <a:spAutoFit/>
          </a:bodyPr>
          <a:lstStyle/>
          <a:p>
            <a:pPr algn="l"/>
            <a:r>
              <a:rPr sz="1050" b="0" i="0">
                <a:solidFill>
                  <a:srgbClr val="333333"/>
                </a:solidFill>
                <a:latin typeface="Calibri"/>
              </a:rPr>
              <a:t>• utility bills &amp; bank statements</a:t>
            </a:r>
          </a:p>
        </p:txBody>
      </p:sp>
      <p:sp>
        <p:nvSpPr>
          <p:cNvPr id="12" name="TextBox 11"/>
          <p:cNvSpPr txBox="1"/>
          <p:nvPr/>
        </p:nvSpPr>
        <p:spPr>
          <a:xfrm>
            <a:off x="914400" y="2624328"/>
            <a:ext cx="4846320" cy="347472"/>
          </a:xfrm>
          <a:prstGeom prst="rect">
            <a:avLst/>
          </a:prstGeom>
          <a:noFill/>
        </p:spPr>
        <p:txBody>
          <a:bodyPr wrap="square">
            <a:spAutoFit/>
          </a:bodyPr>
          <a:lstStyle/>
          <a:p>
            <a:pPr algn="l"/>
            <a:r>
              <a:rPr sz="1050" b="0" i="0">
                <a:solidFill>
                  <a:srgbClr val="333333"/>
                </a:solidFill>
                <a:latin typeface="Calibri"/>
              </a:rPr>
              <a:t>• LLMs fabricate complete personal histories</a:t>
            </a:r>
          </a:p>
        </p:txBody>
      </p:sp>
      <p:sp>
        <p:nvSpPr>
          <p:cNvPr id="13" name="TextBox 12"/>
          <p:cNvSpPr txBox="1"/>
          <p:nvPr/>
        </p:nvSpPr>
        <p:spPr>
          <a:xfrm>
            <a:off x="914400" y="2962656"/>
            <a:ext cx="4846320" cy="347472"/>
          </a:xfrm>
          <a:prstGeom prst="rect">
            <a:avLst/>
          </a:prstGeom>
          <a:noFill/>
        </p:spPr>
        <p:txBody>
          <a:bodyPr wrap="square">
            <a:spAutoFit/>
          </a:bodyPr>
          <a:lstStyle/>
          <a:p>
            <a:pPr algn="l"/>
            <a:r>
              <a:rPr sz="1050" b="0" i="0">
                <a:solidFill>
                  <a:srgbClr val="333333"/>
                </a:solidFill>
                <a:latin typeface="Calibri"/>
              </a:rPr>
              <a:t>• Bypasses liveness checks via webcam plugins</a:t>
            </a:r>
          </a:p>
        </p:txBody>
      </p:sp>
      <p:sp>
        <p:nvSpPr>
          <p:cNvPr id="14" name="TextBox 13"/>
          <p:cNvSpPr txBox="1"/>
          <p:nvPr/>
        </p:nvSpPr>
        <p:spPr>
          <a:xfrm>
            <a:off x="914400" y="3300984"/>
            <a:ext cx="4846320" cy="347472"/>
          </a:xfrm>
          <a:prstGeom prst="rect">
            <a:avLst/>
          </a:prstGeom>
          <a:noFill/>
        </p:spPr>
        <p:txBody>
          <a:bodyPr wrap="square">
            <a:spAutoFit/>
          </a:bodyPr>
          <a:lstStyle/>
          <a:p>
            <a:pPr algn="l"/>
            <a:r>
              <a:rPr sz="1050" b="0" i="0">
                <a:solidFill>
                  <a:srgbClr val="333333"/>
                </a:solidFill>
                <a:latin typeface="Calibri"/>
              </a:rPr>
              <a:t>• 95% go undetected at standard onboarding</a:t>
            </a:r>
          </a:p>
        </p:txBody>
      </p:sp>
      <p:sp>
        <p:nvSpPr>
          <p:cNvPr id="15" name="Rectangle 14"/>
          <p:cNvSpPr/>
          <p:nvPr/>
        </p:nvSpPr>
        <p:spPr>
          <a:xfrm>
            <a:off x="6263640" y="1234440"/>
            <a:ext cx="5623560" cy="25146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234440"/>
            <a:ext cx="457200" cy="251460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307592"/>
            <a:ext cx="384048" cy="411480"/>
          </a:xfrm>
          <a:prstGeom prst="rect">
            <a:avLst/>
          </a:prstGeom>
          <a:noFill/>
        </p:spPr>
        <p:txBody>
          <a:bodyPr wrap="square">
            <a:spAutoFit/>
          </a:bodyPr>
          <a:lstStyle/>
          <a:p>
            <a:pPr algn="ctr"/>
            <a:r>
              <a:rPr sz="1600" b="1" i="0">
                <a:solidFill>
                  <a:srgbClr val="FFFFFF"/>
                </a:solidFill>
                <a:latin typeface="Calibri"/>
              </a:rPr>
              <a:t>02</a:t>
            </a:r>
          </a:p>
        </p:txBody>
      </p:sp>
      <p:sp>
        <p:nvSpPr>
          <p:cNvPr id="18" name="TextBox 17"/>
          <p:cNvSpPr txBox="1"/>
          <p:nvPr/>
        </p:nvSpPr>
        <p:spPr>
          <a:xfrm>
            <a:off x="6812280" y="1325880"/>
            <a:ext cx="4937760" cy="594360"/>
          </a:xfrm>
          <a:prstGeom prst="rect">
            <a:avLst/>
          </a:prstGeom>
          <a:noFill/>
        </p:spPr>
        <p:txBody>
          <a:bodyPr wrap="square">
            <a:spAutoFit/>
          </a:bodyPr>
          <a:lstStyle/>
          <a:p>
            <a:pPr algn="l"/>
            <a:r>
              <a:rPr sz="1400" b="1" i="0">
                <a:solidFill>
                  <a:srgbClr val="002266"/>
                </a:solidFill>
                <a:latin typeface="Calibri"/>
              </a:rPr>
              <a:t>Deepfake Video
Call Fraud</a:t>
            </a:r>
          </a:p>
        </p:txBody>
      </p:sp>
      <p:sp>
        <p:nvSpPr>
          <p:cNvPr id="19" name="TextBox 18"/>
          <p:cNvSpPr txBox="1"/>
          <p:nvPr/>
        </p:nvSpPr>
        <p:spPr>
          <a:xfrm>
            <a:off x="6812280" y="1947672"/>
            <a:ext cx="4846320" cy="347472"/>
          </a:xfrm>
          <a:prstGeom prst="rect">
            <a:avLst/>
          </a:prstGeom>
          <a:noFill/>
        </p:spPr>
        <p:txBody>
          <a:bodyPr wrap="square">
            <a:spAutoFit/>
          </a:bodyPr>
          <a:lstStyle/>
          <a:p>
            <a:pPr algn="l"/>
            <a:r>
              <a:rPr sz="1050" b="0" i="0">
                <a:solidFill>
                  <a:srgbClr val="333333"/>
                </a:solidFill>
                <a:latin typeface="Calibri"/>
              </a:rPr>
              <a:t>• Real-time deepfake executives on video calls</a:t>
            </a:r>
          </a:p>
        </p:txBody>
      </p:sp>
      <p:sp>
        <p:nvSpPr>
          <p:cNvPr id="20" name="TextBox 19"/>
          <p:cNvSpPr txBox="1"/>
          <p:nvPr/>
        </p:nvSpPr>
        <p:spPr>
          <a:xfrm>
            <a:off x="6812280" y="2286000"/>
            <a:ext cx="4846320" cy="347472"/>
          </a:xfrm>
          <a:prstGeom prst="rect">
            <a:avLst/>
          </a:prstGeom>
          <a:noFill/>
        </p:spPr>
        <p:txBody>
          <a:bodyPr wrap="square">
            <a:spAutoFit/>
          </a:bodyPr>
          <a:lstStyle/>
          <a:p>
            <a:pPr algn="l"/>
            <a:r>
              <a:rPr sz="1050" b="0" i="0">
                <a:solidFill>
                  <a:srgbClr val="333333"/>
                </a:solidFill>
                <a:latin typeface="Calibri"/>
              </a:rPr>
              <a:t>• Case: Arup Hong Kong — HK$200M ($25.6M USD)</a:t>
            </a:r>
          </a:p>
        </p:txBody>
      </p:sp>
      <p:sp>
        <p:nvSpPr>
          <p:cNvPr id="21" name="TextBox 20"/>
          <p:cNvSpPr txBox="1"/>
          <p:nvPr/>
        </p:nvSpPr>
        <p:spPr>
          <a:xfrm>
            <a:off x="6812280" y="2624328"/>
            <a:ext cx="4846320" cy="347472"/>
          </a:xfrm>
          <a:prstGeom prst="rect">
            <a:avLst/>
          </a:prstGeom>
          <a:noFill/>
        </p:spPr>
        <p:txBody>
          <a:bodyPr wrap="square">
            <a:spAutoFit/>
          </a:bodyPr>
          <a:lstStyle/>
          <a:p>
            <a:pPr algn="l"/>
            <a:r>
              <a:rPr sz="1050" b="0" i="0">
                <a:solidFill>
                  <a:srgbClr val="333333"/>
                </a:solidFill>
                <a:latin typeface="Calibri"/>
              </a:rPr>
              <a:t>• transferred after ALL execs were deepfaked</a:t>
            </a:r>
          </a:p>
        </p:txBody>
      </p:sp>
      <p:sp>
        <p:nvSpPr>
          <p:cNvPr id="22" name="TextBox 21"/>
          <p:cNvSpPr txBox="1"/>
          <p:nvPr/>
        </p:nvSpPr>
        <p:spPr>
          <a:xfrm>
            <a:off x="6812280" y="2962656"/>
            <a:ext cx="4846320" cy="347472"/>
          </a:xfrm>
          <a:prstGeom prst="rect">
            <a:avLst/>
          </a:prstGeom>
          <a:noFill/>
        </p:spPr>
        <p:txBody>
          <a:bodyPr wrap="square">
            <a:spAutoFit/>
          </a:bodyPr>
          <a:lstStyle/>
          <a:p>
            <a:pPr algn="l"/>
            <a:r>
              <a:rPr sz="1050" b="0" i="0">
                <a:solidFill>
                  <a:srgbClr val="333333"/>
                </a:solidFill>
                <a:latin typeface="Calibri"/>
              </a:rPr>
              <a:t>• 15 transactions authorised before discovery</a:t>
            </a:r>
          </a:p>
        </p:txBody>
      </p:sp>
      <p:sp>
        <p:nvSpPr>
          <p:cNvPr id="23" name="TextBox 22"/>
          <p:cNvSpPr txBox="1"/>
          <p:nvPr/>
        </p:nvSpPr>
        <p:spPr>
          <a:xfrm>
            <a:off x="6812280" y="3300984"/>
            <a:ext cx="4846320" cy="347472"/>
          </a:xfrm>
          <a:prstGeom prst="rect">
            <a:avLst/>
          </a:prstGeom>
          <a:noFill/>
        </p:spPr>
        <p:txBody>
          <a:bodyPr wrap="square">
            <a:spAutoFit/>
          </a:bodyPr>
          <a:lstStyle/>
          <a:p>
            <a:pPr algn="l"/>
            <a:r>
              <a:rPr sz="1050" b="0" i="0">
                <a:solidFill>
                  <a:srgbClr val="333333"/>
                </a:solidFill>
                <a:latin typeface="Calibri"/>
              </a:rPr>
              <a:t>• Entirely bypasses video verification controls</a:t>
            </a:r>
          </a:p>
        </p:txBody>
      </p:sp>
      <p:sp>
        <p:nvSpPr>
          <p:cNvPr id="24" name="Rectangle 23"/>
          <p:cNvSpPr/>
          <p:nvPr/>
        </p:nvSpPr>
        <p:spPr>
          <a:xfrm>
            <a:off x="365760" y="3931920"/>
            <a:ext cx="5623560" cy="25146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931920"/>
            <a:ext cx="457200" cy="251460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4005072"/>
            <a:ext cx="384048" cy="411480"/>
          </a:xfrm>
          <a:prstGeom prst="rect">
            <a:avLst/>
          </a:prstGeom>
          <a:noFill/>
        </p:spPr>
        <p:txBody>
          <a:bodyPr wrap="square">
            <a:spAutoFit/>
          </a:bodyPr>
          <a:lstStyle/>
          <a:p>
            <a:pPr algn="ctr"/>
            <a:r>
              <a:rPr sz="1600" b="1" i="0">
                <a:solidFill>
                  <a:srgbClr val="FFFFFF"/>
                </a:solidFill>
                <a:latin typeface="Calibri"/>
              </a:rPr>
              <a:t>03</a:t>
            </a:r>
          </a:p>
        </p:txBody>
      </p:sp>
      <p:sp>
        <p:nvSpPr>
          <p:cNvPr id="27" name="TextBox 26"/>
          <p:cNvSpPr txBox="1"/>
          <p:nvPr/>
        </p:nvSpPr>
        <p:spPr>
          <a:xfrm>
            <a:off x="914400" y="4023360"/>
            <a:ext cx="4937760" cy="594360"/>
          </a:xfrm>
          <a:prstGeom prst="rect">
            <a:avLst/>
          </a:prstGeom>
          <a:noFill/>
        </p:spPr>
        <p:txBody>
          <a:bodyPr wrap="square">
            <a:spAutoFit/>
          </a:bodyPr>
          <a:lstStyle/>
          <a:p>
            <a:pPr algn="l"/>
            <a:r>
              <a:rPr sz="1400" b="1" i="0">
                <a:solidFill>
                  <a:srgbClr val="002266"/>
                </a:solidFill>
                <a:latin typeface="Calibri"/>
              </a:rPr>
              <a:t>AI-Cloned Voice
at Call Centres</a:t>
            </a:r>
          </a:p>
        </p:txBody>
      </p:sp>
      <p:sp>
        <p:nvSpPr>
          <p:cNvPr id="28" name="TextBox 27"/>
          <p:cNvSpPr txBox="1"/>
          <p:nvPr/>
        </p:nvSpPr>
        <p:spPr>
          <a:xfrm>
            <a:off x="914400" y="4645152"/>
            <a:ext cx="4846320" cy="347472"/>
          </a:xfrm>
          <a:prstGeom prst="rect">
            <a:avLst/>
          </a:prstGeom>
          <a:noFill/>
        </p:spPr>
        <p:txBody>
          <a:bodyPr wrap="square">
            <a:spAutoFit/>
          </a:bodyPr>
          <a:lstStyle/>
          <a:p>
            <a:pPr algn="l"/>
            <a:r>
              <a:rPr sz="1050" b="0" i="0">
                <a:solidFill>
                  <a:srgbClr val="333333"/>
                </a:solidFill>
                <a:latin typeface="Calibri"/>
              </a:rPr>
              <a:t>• Voice-cloned audio impersonates clients</a:t>
            </a:r>
          </a:p>
        </p:txBody>
      </p:sp>
      <p:sp>
        <p:nvSpPr>
          <p:cNvPr id="29" name="TextBox 28"/>
          <p:cNvSpPr txBox="1"/>
          <p:nvPr/>
        </p:nvSpPr>
        <p:spPr>
          <a:xfrm>
            <a:off x="914400" y="4983480"/>
            <a:ext cx="4846320" cy="347472"/>
          </a:xfrm>
          <a:prstGeom prst="rect">
            <a:avLst/>
          </a:prstGeom>
          <a:noFill/>
        </p:spPr>
        <p:txBody>
          <a:bodyPr wrap="square">
            <a:spAutoFit/>
          </a:bodyPr>
          <a:lstStyle/>
          <a:p>
            <a:pPr algn="l"/>
            <a:r>
              <a:rPr sz="1050" b="0" i="0">
                <a:solidFill>
                  <a:srgbClr val="333333"/>
                </a:solidFill>
                <a:latin typeface="Calibri"/>
              </a:rPr>
              <a:t>• Triggers account resets or wire transfers</a:t>
            </a:r>
          </a:p>
        </p:txBody>
      </p:sp>
      <p:sp>
        <p:nvSpPr>
          <p:cNvPr id="30" name="TextBox 29"/>
          <p:cNvSpPr txBox="1"/>
          <p:nvPr/>
        </p:nvSpPr>
        <p:spPr>
          <a:xfrm>
            <a:off x="914400" y="5321808"/>
            <a:ext cx="4846320" cy="347472"/>
          </a:xfrm>
          <a:prstGeom prst="rect">
            <a:avLst/>
          </a:prstGeom>
          <a:noFill/>
        </p:spPr>
        <p:txBody>
          <a:bodyPr wrap="square">
            <a:spAutoFit/>
          </a:bodyPr>
          <a:lstStyle/>
          <a:p>
            <a:pPr algn="l"/>
            <a:r>
              <a:rPr sz="1050" b="0" i="0">
                <a:solidFill>
                  <a:srgbClr val="333333"/>
                </a:solidFill>
                <a:latin typeface="Calibri"/>
              </a:rPr>
              <a:t>• 35% of UK businesses targeted in 2024/25</a:t>
            </a:r>
          </a:p>
        </p:txBody>
      </p:sp>
      <p:sp>
        <p:nvSpPr>
          <p:cNvPr id="31" name="TextBox 30"/>
          <p:cNvSpPr txBox="1"/>
          <p:nvPr/>
        </p:nvSpPr>
        <p:spPr>
          <a:xfrm>
            <a:off x="914400" y="5660136"/>
            <a:ext cx="4846320" cy="347472"/>
          </a:xfrm>
          <a:prstGeom prst="rect">
            <a:avLst/>
          </a:prstGeom>
          <a:noFill/>
        </p:spPr>
        <p:txBody>
          <a:bodyPr wrap="square">
            <a:spAutoFit/>
          </a:bodyPr>
          <a:lstStyle/>
          <a:p>
            <a:pPr algn="l"/>
            <a:r>
              <a:rPr sz="1050" b="0" i="0">
                <a:solidFill>
                  <a:srgbClr val="333333"/>
                </a:solidFill>
                <a:latin typeface="Calibri"/>
              </a:rPr>
              <a:t>• Frequency-domain artefacts detectable by AI</a:t>
            </a:r>
          </a:p>
        </p:txBody>
      </p:sp>
      <p:sp>
        <p:nvSpPr>
          <p:cNvPr id="32" name="TextBox 31"/>
          <p:cNvSpPr txBox="1"/>
          <p:nvPr/>
        </p:nvSpPr>
        <p:spPr>
          <a:xfrm>
            <a:off x="914400" y="5998464"/>
            <a:ext cx="4846320" cy="347472"/>
          </a:xfrm>
          <a:prstGeom prst="rect">
            <a:avLst/>
          </a:prstGeom>
          <a:noFill/>
        </p:spPr>
        <p:txBody>
          <a:bodyPr wrap="square">
            <a:spAutoFit/>
          </a:bodyPr>
          <a:lstStyle/>
          <a:p>
            <a:pPr algn="l"/>
            <a:r>
              <a:rPr sz="1050" b="0" i="0">
                <a:solidFill>
                  <a:srgbClr val="333333"/>
                </a:solidFill>
                <a:latin typeface="Calibri"/>
              </a:rPr>
              <a:t>• Human agents cannot distinguish cloned audio</a:t>
            </a:r>
          </a:p>
        </p:txBody>
      </p:sp>
      <p:sp>
        <p:nvSpPr>
          <p:cNvPr id="33" name="Rectangle 32"/>
          <p:cNvSpPr/>
          <p:nvPr/>
        </p:nvSpPr>
        <p:spPr>
          <a:xfrm>
            <a:off x="6263640" y="3931920"/>
            <a:ext cx="5623560" cy="25146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63640" y="3931920"/>
            <a:ext cx="457200" cy="251460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4005072"/>
            <a:ext cx="384048" cy="411480"/>
          </a:xfrm>
          <a:prstGeom prst="rect">
            <a:avLst/>
          </a:prstGeom>
          <a:noFill/>
        </p:spPr>
        <p:txBody>
          <a:bodyPr wrap="square">
            <a:spAutoFit/>
          </a:bodyPr>
          <a:lstStyle/>
          <a:p>
            <a:pPr algn="ctr"/>
            <a:r>
              <a:rPr sz="1600" b="1" i="0">
                <a:solidFill>
                  <a:srgbClr val="FFFFFF"/>
                </a:solidFill>
                <a:latin typeface="Calibri"/>
              </a:rPr>
              <a:t>04</a:t>
            </a:r>
          </a:p>
        </p:txBody>
      </p:sp>
      <p:sp>
        <p:nvSpPr>
          <p:cNvPr id="36" name="TextBox 35"/>
          <p:cNvSpPr txBox="1"/>
          <p:nvPr/>
        </p:nvSpPr>
        <p:spPr>
          <a:xfrm>
            <a:off x="6812280" y="4023360"/>
            <a:ext cx="4937760" cy="594360"/>
          </a:xfrm>
          <a:prstGeom prst="rect">
            <a:avLst/>
          </a:prstGeom>
          <a:noFill/>
        </p:spPr>
        <p:txBody>
          <a:bodyPr wrap="square">
            <a:spAutoFit/>
          </a:bodyPr>
          <a:lstStyle/>
          <a:p>
            <a:pPr algn="l"/>
            <a:r>
              <a:rPr sz="1400" b="1" i="0">
                <a:solidFill>
                  <a:srgbClr val="002266"/>
                </a:solidFill>
                <a:latin typeface="Calibri"/>
              </a:rPr>
              <a:t>AI-Generated
Document Packages</a:t>
            </a:r>
          </a:p>
        </p:txBody>
      </p:sp>
      <p:sp>
        <p:nvSpPr>
          <p:cNvPr id="37" name="TextBox 36"/>
          <p:cNvSpPr txBox="1"/>
          <p:nvPr/>
        </p:nvSpPr>
        <p:spPr>
          <a:xfrm>
            <a:off x="6812280" y="4645152"/>
            <a:ext cx="4846320" cy="347472"/>
          </a:xfrm>
          <a:prstGeom prst="rect">
            <a:avLst/>
          </a:prstGeom>
          <a:noFill/>
        </p:spPr>
        <p:txBody>
          <a:bodyPr wrap="square">
            <a:spAutoFit/>
          </a:bodyPr>
          <a:lstStyle/>
          <a:p>
            <a:pPr algn="l"/>
            <a:r>
              <a:rPr sz="1050" b="0" i="0">
                <a:solidFill>
                  <a:srgbClr val="333333"/>
                </a:solidFill>
                <a:latin typeface="Calibri"/>
              </a:rPr>
              <a:t>• Entire KYC document packs fabricated by GenAI</a:t>
            </a:r>
          </a:p>
        </p:txBody>
      </p:sp>
      <p:sp>
        <p:nvSpPr>
          <p:cNvPr id="38" name="TextBox 37"/>
          <p:cNvSpPr txBox="1"/>
          <p:nvPr/>
        </p:nvSpPr>
        <p:spPr>
          <a:xfrm>
            <a:off x="6812280" y="4983480"/>
            <a:ext cx="4846320" cy="347472"/>
          </a:xfrm>
          <a:prstGeom prst="rect">
            <a:avLst/>
          </a:prstGeom>
          <a:noFill/>
        </p:spPr>
        <p:txBody>
          <a:bodyPr wrap="square">
            <a:spAutoFit/>
          </a:bodyPr>
          <a:lstStyle/>
          <a:p>
            <a:pPr algn="l"/>
            <a:r>
              <a:rPr sz="1050" b="0" i="0">
                <a:solidFill>
                  <a:srgbClr val="333333"/>
                </a:solidFill>
                <a:latin typeface="Calibri"/>
              </a:rPr>
              <a:t>• IDs, proof of address, corporate records</a:t>
            </a:r>
          </a:p>
        </p:txBody>
      </p:sp>
      <p:sp>
        <p:nvSpPr>
          <p:cNvPr id="39" name="TextBox 38"/>
          <p:cNvSpPr txBox="1"/>
          <p:nvPr/>
        </p:nvSpPr>
        <p:spPr>
          <a:xfrm>
            <a:off x="6812280" y="5321808"/>
            <a:ext cx="4846320" cy="347472"/>
          </a:xfrm>
          <a:prstGeom prst="rect">
            <a:avLst/>
          </a:prstGeom>
          <a:noFill/>
        </p:spPr>
        <p:txBody>
          <a:bodyPr wrap="square">
            <a:spAutoFit/>
          </a:bodyPr>
          <a:lstStyle/>
          <a:p>
            <a:pPr algn="l"/>
            <a:r>
              <a:rPr sz="1050" b="0" i="0">
                <a:solidFill>
                  <a:srgbClr val="333333"/>
                </a:solidFill>
                <a:latin typeface="Calibri"/>
              </a:rPr>
              <a:t>• Pass visual inspection &amp; many automated checks</a:t>
            </a:r>
          </a:p>
        </p:txBody>
      </p:sp>
      <p:sp>
        <p:nvSpPr>
          <p:cNvPr id="40" name="TextBox 39"/>
          <p:cNvSpPr txBox="1"/>
          <p:nvPr/>
        </p:nvSpPr>
        <p:spPr>
          <a:xfrm>
            <a:off x="6812280" y="5660136"/>
            <a:ext cx="4846320" cy="347472"/>
          </a:xfrm>
          <a:prstGeom prst="rect">
            <a:avLst/>
          </a:prstGeom>
          <a:noFill/>
        </p:spPr>
        <p:txBody>
          <a:bodyPr wrap="square">
            <a:spAutoFit/>
          </a:bodyPr>
          <a:lstStyle/>
          <a:p>
            <a:pPr algn="l"/>
            <a:r>
              <a:rPr sz="1050" b="0" i="0">
                <a:solidFill>
                  <a:srgbClr val="333333"/>
                </a:solidFill>
                <a:latin typeface="Calibri"/>
              </a:rPr>
              <a:t>• LLMs ensure consistency across all documents</a:t>
            </a:r>
          </a:p>
        </p:txBody>
      </p:sp>
      <p:sp>
        <p:nvSpPr>
          <p:cNvPr id="41" name="TextBox 40"/>
          <p:cNvSpPr txBox="1"/>
          <p:nvPr/>
        </p:nvSpPr>
        <p:spPr>
          <a:xfrm>
            <a:off x="6812280" y="5998464"/>
            <a:ext cx="4846320" cy="347472"/>
          </a:xfrm>
          <a:prstGeom prst="rect">
            <a:avLst/>
          </a:prstGeom>
          <a:noFill/>
        </p:spPr>
        <p:txBody>
          <a:bodyPr wrap="square">
            <a:spAutoFit/>
          </a:bodyPr>
          <a:lstStyle/>
          <a:p>
            <a:pPr algn="l"/>
            <a:r>
              <a:rPr sz="1050" b="0" i="0">
                <a:solidFill>
                  <a:srgbClr val="333333"/>
                </a:solidFill>
                <a:latin typeface="Calibri"/>
              </a:rPr>
              <a:t>• Directly targets the CitiDirect upload portal</a:t>
            </a:r>
          </a:p>
        </p:txBody>
      </p:sp>
      <p:sp>
        <p:nvSpPr>
          <p:cNvPr id="42" name="Rectangle 41"/>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Why Citibank?  Why Now?</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Regulatory mandates + strategic gaps make this the highest-priority use case</a:t>
            </a:r>
          </a:p>
        </p:txBody>
      </p:sp>
      <p:sp>
        <p:nvSpPr>
          <p:cNvPr id="6" name="Rectangle 5"/>
          <p:cNvSpPr/>
          <p:nvPr/>
        </p:nvSpPr>
        <p:spPr>
          <a:xfrm>
            <a:off x="365760" y="1234440"/>
            <a:ext cx="5486400" cy="52578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91440" cy="5257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25880"/>
            <a:ext cx="5029200" cy="457200"/>
          </a:xfrm>
          <a:prstGeom prst="rect">
            <a:avLst/>
          </a:prstGeom>
          <a:noFill/>
        </p:spPr>
        <p:txBody>
          <a:bodyPr wrap="square">
            <a:spAutoFit/>
          </a:bodyPr>
          <a:lstStyle/>
          <a:p>
            <a:pPr algn="l"/>
            <a:r>
              <a:rPr sz="1500" b="1" i="0">
                <a:solidFill>
                  <a:srgbClr val="CC0000"/>
                </a:solidFill>
                <a:latin typeface="Calibri"/>
              </a:rPr>
              <a:t>⚖  Regulatory Mandates</a:t>
            </a:r>
          </a:p>
        </p:txBody>
      </p:sp>
      <p:sp>
        <p:nvSpPr>
          <p:cNvPr id="9" name="Rectangle 8"/>
          <p:cNvSpPr/>
          <p:nvPr/>
        </p:nvSpPr>
        <p:spPr>
          <a:xfrm>
            <a:off x="548640" y="1874519"/>
            <a:ext cx="51206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11095"/>
            <a:ext cx="1463040" cy="320040"/>
          </a:xfrm>
          <a:prstGeom prst="rect">
            <a:avLst/>
          </a:prstGeom>
          <a:noFill/>
        </p:spPr>
        <p:txBody>
          <a:bodyPr wrap="square">
            <a:spAutoFit/>
          </a:bodyPr>
          <a:lstStyle/>
          <a:p>
            <a:pPr algn="l"/>
            <a:r>
              <a:rPr sz="1100" b="1" i="0">
                <a:solidFill>
                  <a:srgbClr val="002266"/>
                </a:solidFill>
                <a:latin typeface="Calibri"/>
              </a:rPr>
              <a:t>FinCEN Nov 2024</a:t>
            </a:r>
          </a:p>
        </p:txBody>
      </p:sp>
      <p:sp>
        <p:nvSpPr>
          <p:cNvPr id="11" name="TextBox 10"/>
          <p:cNvSpPr txBox="1"/>
          <p:nvPr/>
        </p:nvSpPr>
        <p:spPr>
          <a:xfrm>
            <a:off x="685800" y="2221991"/>
            <a:ext cx="4754880" cy="384048"/>
          </a:xfrm>
          <a:prstGeom prst="rect">
            <a:avLst/>
          </a:prstGeom>
          <a:noFill/>
        </p:spPr>
        <p:txBody>
          <a:bodyPr wrap="square">
            <a:spAutoFit/>
          </a:bodyPr>
          <a:lstStyle/>
          <a:p>
            <a:pPr algn="l"/>
            <a:r>
              <a:rPr sz="1000" b="0" i="0">
                <a:solidFill>
                  <a:srgbClr val="333333"/>
                </a:solidFill>
                <a:latin typeface="Calibri"/>
              </a:rPr>
              <a:t>FIN-2024-DEEPFAKEFRAUD alert — banks must
detect &amp; SAR-file deepfake fraud attempts</a:t>
            </a:r>
          </a:p>
        </p:txBody>
      </p:sp>
      <p:sp>
        <p:nvSpPr>
          <p:cNvPr id="12" name="Rectangle 11"/>
          <p:cNvSpPr/>
          <p:nvPr/>
        </p:nvSpPr>
        <p:spPr>
          <a:xfrm>
            <a:off x="548640" y="2788920"/>
            <a:ext cx="51206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825496"/>
            <a:ext cx="1463040" cy="320040"/>
          </a:xfrm>
          <a:prstGeom prst="rect">
            <a:avLst/>
          </a:prstGeom>
          <a:noFill/>
        </p:spPr>
        <p:txBody>
          <a:bodyPr wrap="square">
            <a:spAutoFit/>
          </a:bodyPr>
          <a:lstStyle/>
          <a:p>
            <a:pPr algn="l"/>
            <a:r>
              <a:rPr sz="1100" b="1" i="0">
                <a:solidFill>
                  <a:srgbClr val="002266"/>
                </a:solidFill>
                <a:latin typeface="Calibri"/>
              </a:rPr>
              <a:t>FATF</a:t>
            </a:r>
          </a:p>
        </p:txBody>
      </p:sp>
      <p:sp>
        <p:nvSpPr>
          <p:cNvPr id="14" name="TextBox 13"/>
          <p:cNvSpPr txBox="1"/>
          <p:nvPr/>
        </p:nvSpPr>
        <p:spPr>
          <a:xfrm>
            <a:off x="685800" y="3136391"/>
            <a:ext cx="4754880" cy="384048"/>
          </a:xfrm>
          <a:prstGeom prst="rect">
            <a:avLst/>
          </a:prstGeom>
          <a:noFill/>
        </p:spPr>
        <p:txBody>
          <a:bodyPr wrap="square">
            <a:spAutoFit/>
          </a:bodyPr>
          <a:lstStyle/>
          <a:p>
            <a:pPr algn="l"/>
            <a:r>
              <a:rPr sz="1000" b="0" i="0">
                <a:solidFill>
                  <a:srgbClr val="333333"/>
                </a:solidFill>
                <a:latin typeface="Calibri"/>
              </a:rPr>
              <a:t>Name-matching alone is insufficient;
AI-manipulated identity guidance issued</a:t>
            </a:r>
          </a:p>
        </p:txBody>
      </p:sp>
      <p:sp>
        <p:nvSpPr>
          <p:cNvPr id="15" name="Rectangle 14"/>
          <p:cNvSpPr/>
          <p:nvPr/>
        </p:nvSpPr>
        <p:spPr>
          <a:xfrm>
            <a:off x="548640" y="3703320"/>
            <a:ext cx="51206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1463040" cy="320040"/>
          </a:xfrm>
          <a:prstGeom prst="rect">
            <a:avLst/>
          </a:prstGeom>
          <a:noFill/>
        </p:spPr>
        <p:txBody>
          <a:bodyPr wrap="square">
            <a:spAutoFit/>
          </a:bodyPr>
          <a:lstStyle/>
          <a:p>
            <a:pPr algn="l"/>
            <a:r>
              <a:rPr sz="1100" b="1" i="0">
                <a:solidFill>
                  <a:srgbClr val="002266"/>
                </a:solidFill>
                <a:latin typeface="Calibri"/>
              </a:rPr>
              <a:t>EU AI Act</a:t>
            </a:r>
          </a:p>
        </p:txBody>
      </p:sp>
      <p:sp>
        <p:nvSpPr>
          <p:cNvPr id="17" name="TextBox 16"/>
          <p:cNvSpPr txBox="1"/>
          <p:nvPr/>
        </p:nvSpPr>
        <p:spPr>
          <a:xfrm>
            <a:off x="685800" y="4050791"/>
            <a:ext cx="4754880" cy="384048"/>
          </a:xfrm>
          <a:prstGeom prst="rect">
            <a:avLst/>
          </a:prstGeom>
          <a:noFill/>
        </p:spPr>
        <p:txBody>
          <a:bodyPr wrap="square">
            <a:spAutoFit/>
          </a:bodyPr>
          <a:lstStyle/>
          <a:p>
            <a:pPr algn="l"/>
            <a:r>
              <a:rPr sz="1000" b="0" i="0">
                <a:solidFill>
                  <a:srgbClr val="333333"/>
                </a:solidFill>
                <a:latin typeface="Calibri"/>
              </a:rPr>
              <a:t>Penalties up to €35M or 7% global turnover
for non-compliant AI in high-risk contexts</a:t>
            </a:r>
          </a:p>
        </p:txBody>
      </p:sp>
      <p:sp>
        <p:nvSpPr>
          <p:cNvPr id="18" name="Rectangle 17"/>
          <p:cNvSpPr/>
          <p:nvPr/>
        </p:nvSpPr>
        <p:spPr>
          <a:xfrm>
            <a:off x="548640" y="4617720"/>
            <a:ext cx="51206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654296"/>
            <a:ext cx="1463040" cy="320040"/>
          </a:xfrm>
          <a:prstGeom prst="rect">
            <a:avLst/>
          </a:prstGeom>
          <a:noFill/>
        </p:spPr>
        <p:txBody>
          <a:bodyPr wrap="square">
            <a:spAutoFit/>
          </a:bodyPr>
          <a:lstStyle/>
          <a:p>
            <a:pPr algn="l"/>
            <a:r>
              <a:rPr sz="1100" b="1" i="0">
                <a:solidFill>
                  <a:srgbClr val="002266"/>
                </a:solidFill>
                <a:latin typeface="Calibri"/>
              </a:rPr>
              <a:t>FCA (UK)</a:t>
            </a:r>
          </a:p>
        </p:txBody>
      </p:sp>
      <p:sp>
        <p:nvSpPr>
          <p:cNvPr id="20" name="TextBox 19"/>
          <p:cNvSpPr txBox="1"/>
          <p:nvPr/>
        </p:nvSpPr>
        <p:spPr>
          <a:xfrm>
            <a:off x="685800" y="4965192"/>
            <a:ext cx="4754880" cy="384048"/>
          </a:xfrm>
          <a:prstGeom prst="rect">
            <a:avLst/>
          </a:prstGeom>
          <a:noFill/>
        </p:spPr>
        <p:txBody>
          <a:bodyPr wrap="square">
            <a:spAutoFit/>
          </a:bodyPr>
          <a:lstStyle/>
          <a:p>
            <a:pPr algn="l"/>
            <a:r>
              <a:rPr sz="1000" b="0" i="0">
                <a:solidFill>
                  <a:srgbClr val="333333"/>
                </a:solidFill>
                <a:latin typeface="Calibri"/>
              </a:rPr>
              <a:t>£176M in fines in 2024 — 3× year-on-year;
'failure to prevent fraud' law enacted</a:t>
            </a:r>
          </a:p>
        </p:txBody>
      </p:sp>
      <p:sp>
        <p:nvSpPr>
          <p:cNvPr id="21" name="Rectangle 20"/>
          <p:cNvSpPr/>
          <p:nvPr/>
        </p:nvSpPr>
        <p:spPr>
          <a:xfrm>
            <a:off x="548640" y="5532120"/>
            <a:ext cx="51206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568696"/>
            <a:ext cx="1463040" cy="320040"/>
          </a:xfrm>
          <a:prstGeom prst="rect">
            <a:avLst/>
          </a:prstGeom>
          <a:noFill/>
        </p:spPr>
        <p:txBody>
          <a:bodyPr wrap="square">
            <a:spAutoFit/>
          </a:bodyPr>
          <a:lstStyle/>
          <a:p>
            <a:pPr algn="l"/>
            <a:r>
              <a:rPr sz="1100" b="1" i="0">
                <a:solidFill>
                  <a:srgbClr val="002266"/>
                </a:solidFill>
                <a:latin typeface="Calibri"/>
              </a:rPr>
              <a:t>NYDFS</a:t>
            </a:r>
          </a:p>
        </p:txBody>
      </p:sp>
      <p:sp>
        <p:nvSpPr>
          <p:cNvPr id="23" name="TextBox 22"/>
          <p:cNvSpPr txBox="1"/>
          <p:nvPr/>
        </p:nvSpPr>
        <p:spPr>
          <a:xfrm>
            <a:off x="685800" y="5879592"/>
            <a:ext cx="4754880" cy="384048"/>
          </a:xfrm>
          <a:prstGeom prst="rect">
            <a:avLst/>
          </a:prstGeom>
          <a:noFill/>
        </p:spPr>
        <p:txBody>
          <a:bodyPr wrap="square">
            <a:spAutoFit/>
          </a:bodyPr>
          <a:lstStyle/>
          <a:p>
            <a:pPr algn="l"/>
            <a:r>
              <a:rPr sz="1000" b="0" i="0">
                <a:solidFill>
                  <a:srgbClr val="333333"/>
                </a:solidFill>
                <a:latin typeface="Calibri"/>
              </a:rPr>
              <a:t>Deepfake detection required in baseline
cyber programmes for NY-licensed banks</a:t>
            </a:r>
          </a:p>
        </p:txBody>
      </p:sp>
      <p:sp>
        <p:nvSpPr>
          <p:cNvPr id="24" name="Rectangle 23"/>
          <p:cNvSpPr/>
          <p:nvPr/>
        </p:nvSpPr>
        <p:spPr>
          <a:xfrm>
            <a:off x="6309360" y="1234440"/>
            <a:ext cx="5513832" cy="525780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1325880"/>
            <a:ext cx="5120640" cy="457200"/>
          </a:xfrm>
          <a:prstGeom prst="rect">
            <a:avLst/>
          </a:prstGeom>
          <a:noFill/>
        </p:spPr>
        <p:txBody>
          <a:bodyPr wrap="square">
            <a:spAutoFit/>
          </a:bodyPr>
          <a:lstStyle/>
          <a:p>
            <a:pPr algn="l"/>
            <a:r>
              <a:rPr sz="1500" b="1" i="0">
                <a:solidFill>
                  <a:srgbClr val="FFFFFF"/>
                </a:solidFill>
                <a:latin typeface="Calibri"/>
              </a:rPr>
              <a:t>🏦  Citi-Specific Urgency</a:t>
            </a:r>
          </a:p>
        </p:txBody>
      </p:sp>
      <p:sp>
        <p:nvSpPr>
          <p:cNvPr id="26" name="Rectangle 25"/>
          <p:cNvSpPr/>
          <p:nvPr/>
        </p:nvSpPr>
        <p:spPr>
          <a:xfrm>
            <a:off x="6492240" y="1874519"/>
            <a:ext cx="5120640" cy="777240"/>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1911095"/>
            <a:ext cx="4754880" cy="320040"/>
          </a:xfrm>
          <a:prstGeom prst="rect">
            <a:avLst/>
          </a:prstGeom>
          <a:noFill/>
        </p:spPr>
        <p:txBody>
          <a:bodyPr wrap="square">
            <a:spAutoFit/>
          </a:bodyPr>
          <a:lstStyle/>
          <a:p>
            <a:pPr algn="l"/>
            <a:r>
              <a:rPr sz="1100" b="1" i="0">
                <a:solidFill>
                  <a:srgbClr val="FF9900"/>
                </a:solidFill>
                <a:latin typeface="Calibri"/>
              </a:rPr>
              <a:t>NY AG Lawsuit (2024)</a:t>
            </a:r>
          </a:p>
        </p:txBody>
      </p:sp>
      <p:sp>
        <p:nvSpPr>
          <p:cNvPr id="28" name="TextBox 27"/>
          <p:cNvSpPr txBox="1"/>
          <p:nvPr/>
        </p:nvSpPr>
        <p:spPr>
          <a:xfrm>
            <a:off x="6629400" y="2221991"/>
            <a:ext cx="4754880" cy="384048"/>
          </a:xfrm>
          <a:prstGeom prst="rect">
            <a:avLst/>
          </a:prstGeom>
          <a:noFill/>
        </p:spPr>
        <p:txBody>
          <a:bodyPr wrap="square">
            <a:spAutoFit/>
          </a:bodyPr>
          <a:lstStyle/>
          <a:p>
            <a:pPr algn="l"/>
            <a:r>
              <a:rPr sz="1000" b="0" i="0">
                <a:solidFill>
                  <a:srgbClr val="E5F2FF"/>
                </a:solidFill>
                <a:latin typeface="Calibri"/>
              </a:rPr>
              <a:t>Citi sued for failing to stop AI-powered
account takeovers &amp; reimburse fraud victims</a:t>
            </a:r>
          </a:p>
        </p:txBody>
      </p:sp>
      <p:sp>
        <p:nvSpPr>
          <p:cNvPr id="29" name="Rectangle 28"/>
          <p:cNvSpPr/>
          <p:nvPr/>
        </p:nvSpPr>
        <p:spPr>
          <a:xfrm>
            <a:off x="6492240" y="2788920"/>
            <a:ext cx="5120640" cy="777240"/>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2825496"/>
            <a:ext cx="4754880" cy="320040"/>
          </a:xfrm>
          <a:prstGeom prst="rect">
            <a:avLst/>
          </a:prstGeom>
          <a:noFill/>
        </p:spPr>
        <p:txBody>
          <a:bodyPr wrap="square">
            <a:spAutoFit/>
          </a:bodyPr>
          <a:lstStyle/>
          <a:p>
            <a:pPr algn="l"/>
            <a:r>
              <a:rPr sz="1100" b="1" i="0">
                <a:solidFill>
                  <a:srgbClr val="FF9900"/>
                </a:solidFill>
                <a:latin typeface="Calibri"/>
              </a:rPr>
              <a:t>90% Digital Onboarding</a:t>
            </a:r>
          </a:p>
        </p:txBody>
      </p:sp>
      <p:sp>
        <p:nvSpPr>
          <p:cNvPr id="31" name="TextBox 30"/>
          <p:cNvSpPr txBox="1"/>
          <p:nvPr/>
        </p:nvSpPr>
        <p:spPr>
          <a:xfrm>
            <a:off x="6629400" y="3136391"/>
            <a:ext cx="4754880" cy="384048"/>
          </a:xfrm>
          <a:prstGeom prst="rect">
            <a:avLst/>
          </a:prstGeom>
          <a:noFill/>
        </p:spPr>
        <p:txBody>
          <a:bodyPr wrap="square">
            <a:spAutoFit/>
          </a:bodyPr>
          <a:lstStyle/>
          <a:p>
            <a:pPr algn="l"/>
            <a:r>
              <a:rPr sz="1000" b="0" i="0">
                <a:solidFill>
                  <a:srgbClr val="E5F2FF"/>
                </a:solidFill>
                <a:latin typeface="Calibri"/>
              </a:rPr>
              <a:t>CitiDirect handles 90% of account requests
digitally — the attack surface is vast</a:t>
            </a:r>
          </a:p>
        </p:txBody>
      </p:sp>
      <p:sp>
        <p:nvSpPr>
          <p:cNvPr id="32" name="Rectangle 31"/>
          <p:cNvSpPr/>
          <p:nvPr/>
        </p:nvSpPr>
        <p:spPr>
          <a:xfrm>
            <a:off x="6492240" y="3703320"/>
            <a:ext cx="5120640" cy="777240"/>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29400" y="3739896"/>
            <a:ext cx="4754880" cy="320040"/>
          </a:xfrm>
          <a:prstGeom prst="rect">
            <a:avLst/>
          </a:prstGeom>
          <a:noFill/>
        </p:spPr>
        <p:txBody>
          <a:bodyPr wrap="square">
            <a:spAutoFit/>
          </a:bodyPr>
          <a:lstStyle/>
          <a:p>
            <a:pPr algn="l"/>
            <a:r>
              <a:rPr sz="1100" b="1" i="0">
                <a:solidFill>
                  <a:srgbClr val="FF9900"/>
                </a:solidFill>
                <a:latin typeface="Calibri"/>
              </a:rPr>
              <a:t>$30B Tech Investment</a:t>
            </a:r>
          </a:p>
        </p:txBody>
      </p:sp>
      <p:sp>
        <p:nvSpPr>
          <p:cNvPr id="34" name="TextBox 33"/>
          <p:cNvSpPr txBox="1"/>
          <p:nvPr/>
        </p:nvSpPr>
        <p:spPr>
          <a:xfrm>
            <a:off x="6629400" y="4050791"/>
            <a:ext cx="4754880" cy="384048"/>
          </a:xfrm>
          <a:prstGeom prst="rect">
            <a:avLst/>
          </a:prstGeom>
          <a:noFill/>
        </p:spPr>
        <p:txBody>
          <a:bodyPr wrap="square">
            <a:spAutoFit/>
          </a:bodyPr>
          <a:lstStyle/>
          <a:p>
            <a:pPr algn="l"/>
            <a:r>
              <a:rPr sz="1000" b="0" i="0">
                <a:solidFill>
                  <a:srgbClr val="E5F2FF"/>
                </a:solidFill>
                <a:latin typeface="Calibri"/>
              </a:rPr>
              <a:t>Citi's transformation creates the infrastructure
now — detection layer integrates seamlessly</a:t>
            </a:r>
          </a:p>
        </p:txBody>
      </p:sp>
      <p:sp>
        <p:nvSpPr>
          <p:cNvPr id="35" name="Rectangle 34"/>
          <p:cNvSpPr/>
          <p:nvPr/>
        </p:nvSpPr>
        <p:spPr>
          <a:xfrm>
            <a:off x="6492240" y="4617720"/>
            <a:ext cx="5120640" cy="777240"/>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400" y="4654296"/>
            <a:ext cx="4754880" cy="320040"/>
          </a:xfrm>
          <a:prstGeom prst="rect">
            <a:avLst/>
          </a:prstGeom>
          <a:noFill/>
        </p:spPr>
        <p:txBody>
          <a:bodyPr wrap="square">
            <a:spAutoFit/>
          </a:bodyPr>
          <a:lstStyle/>
          <a:p>
            <a:pPr algn="l"/>
            <a:r>
              <a:rPr sz="1100" b="1" i="0">
                <a:solidFill>
                  <a:srgbClr val="FF9900"/>
                </a:solidFill>
                <a:latin typeface="Calibri"/>
              </a:rPr>
              <a:t>Citi Stylus Adjacency</a:t>
            </a:r>
          </a:p>
        </p:txBody>
      </p:sp>
      <p:sp>
        <p:nvSpPr>
          <p:cNvPr id="37" name="TextBox 36"/>
          <p:cNvSpPr txBox="1"/>
          <p:nvPr/>
        </p:nvSpPr>
        <p:spPr>
          <a:xfrm>
            <a:off x="6629400" y="4965192"/>
            <a:ext cx="4754880" cy="384048"/>
          </a:xfrm>
          <a:prstGeom prst="rect">
            <a:avLst/>
          </a:prstGeom>
          <a:noFill/>
        </p:spPr>
        <p:txBody>
          <a:bodyPr wrap="square">
            <a:spAutoFit/>
          </a:bodyPr>
          <a:lstStyle/>
          <a:p>
            <a:pPr algn="l"/>
            <a:r>
              <a:rPr sz="1000" b="0" i="0">
                <a:solidFill>
                  <a:srgbClr val="E5F2FF"/>
                </a:solidFill>
                <a:latin typeface="Calibri"/>
              </a:rPr>
              <a:t>Document intelligence pipeline already exists;
detection slots directly into the workflow</a:t>
            </a:r>
          </a:p>
        </p:txBody>
      </p:sp>
      <p:sp>
        <p:nvSpPr>
          <p:cNvPr id="38" name="Rectangle 37"/>
          <p:cNvSpPr/>
          <p:nvPr/>
        </p:nvSpPr>
        <p:spPr>
          <a:xfrm>
            <a:off x="6492240" y="5532120"/>
            <a:ext cx="5120640" cy="777240"/>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29400" y="5568696"/>
            <a:ext cx="4754880" cy="320040"/>
          </a:xfrm>
          <a:prstGeom prst="rect">
            <a:avLst/>
          </a:prstGeom>
          <a:noFill/>
        </p:spPr>
        <p:txBody>
          <a:bodyPr wrap="square">
            <a:spAutoFit/>
          </a:bodyPr>
          <a:lstStyle/>
          <a:p>
            <a:pPr algn="l"/>
            <a:r>
              <a:rPr sz="1100" b="1" i="0">
                <a:solidFill>
                  <a:srgbClr val="FF9900"/>
                </a:solidFill>
                <a:latin typeface="Calibri"/>
              </a:rPr>
              <a:t>Google Cloud AI</a:t>
            </a:r>
          </a:p>
        </p:txBody>
      </p:sp>
      <p:sp>
        <p:nvSpPr>
          <p:cNvPr id="40" name="TextBox 39"/>
          <p:cNvSpPr txBox="1"/>
          <p:nvPr/>
        </p:nvSpPr>
        <p:spPr>
          <a:xfrm>
            <a:off x="6629400" y="5879592"/>
            <a:ext cx="4754880" cy="384048"/>
          </a:xfrm>
          <a:prstGeom prst="rect">
            <a:avLst/>
          </a:prstGeom>
          <a:noFill/>
        </p:spPr>
        <p:txBody>
          <a:bodyPr wrap="square">
            <a:spAutoFit/>
          </a:bodyPr>
          <a:lstStyle/>
          <a:p>
            <a:pPr algn="l"/>
            <a:r>
              <a:rPr sz="1000" b="0" i="0">
                <a:solidFill>
                  <a:srgbClr val="E5F2FF"/>
                </a:solidFill>
                <a:latin typeface="Calibri"/>
              </a:rPr>
              <a:t>Multi-year partnership provides the scalable
ML inference infrastructure for real-time scoring</a:t>
            </a:r>
          </a:p>
        </p:txBody>
      </p:sp>
      <p:sp>
        <p:nvSpPr>
          <p:cNvPr id="41" name="Rectangle 40"/>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Introducing TrustGuard</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Multi-modal AI detection embedded directly into Citi's KYC onboarding pipeline</a:t>
            </a:r>
          </a:p>
        </p:txBody>
      </p:sp>
      <p:sp>
        <p:nvSpPr>
          <p:cNvPr id="6" name="Rectangle 5"/>
          <p:cNvSpPr/>
          <p:nvPr/>
        </p:nvSpPr>
        <p:spPr>
          <a:xfrm>
            <a:off x="4480560" y="1234440"/>
            <a:ext cx="3227832" cy="10058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298448"/>
            <a:ext cx="3017520" cy="594360"/>
          </a:xfrm>
          <a:prstGeom prst="rect">
            <a:avLst/>
          </a:prstGeom>
          <a:noFill/>
        </p:spPr>
        <p:txBody>
          <a:bodyPr wrap="square">
            <a:spAutoFit/>
          </a:bodyPr>
          <a:lstStyle/>
          <a:p>
            <a:pPr algn="ctr"/>
            <a:r>
              <a:rPr sz="2800" b="1" i="0">
                <a:solidFill>
                  <a:srgbClr val="FFFFFF"/>
                </a:solidFill>
                <a:latin typeface="Calibri"/>
              </a:rPr>
              <a:t>TrustGuard</a:t>
            </a:r>
          </a:p>
        </p:txBody>
      </p:sp>
      <p:sp>
        <p:nvSpPr>
          <p:cNvPr id="8" name="TextBox 7"/>
          <p:cNvSpPr txBox="1"/>
          <p:nvPr/>
        </p:nvSpPr>
        <p:spPr>
          <a:xfrm>
            <a:off x="4251960" y="1810512"/>
            <a:ext cx="3703320" cy="347472"/>
          </a:xfrm>
          <a:prstGeom prst="rect">
            <a:avLst/>
          </a:prstGeom>
          <a:noFill/>
        </p:spPr>
        <p:txBody>
          <a:bodyPr wrap="square">
            <a:spAutoFit/>
          </a:bodyPr>
          <a:lstStyle/>
          <a:p>
            <a:pPr algn="ctr"/>
            <a:r>
              <a:rPr sz="1100" b="0" i="0">
                <a:solidFill>
                  <a:srgbClr val="0066CC"/>
                </a:solidFill>
                <a:latin typeface="Calibri"/>
              </a:rPr>
              <a:t>AI-Powered Synthetic Media Detector</a:t>
            </a:r>
          </a:p>
        </p:txBody>
      </p:sp>
      <p:sp>
        <p:nvSpPr>
          <p:cNvPr id="9" name="Rectangle 8"/>
          <p:cNvSpPr/>
          <p:nvPr/>
        </p:nvSpPr>
        <p:spPr>
          <a:xfrm>
            <a:off x="274320" y="2560320"/>
            <a:ext cx="2194560" cy="17373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560320"/>
            <a:ext cx="2194560" cy="4114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606039"/>
            <a:ext cx="2011680" cy="347472"/>
          </a:xfrm>
          <a:prstGeom prst="rect">
            <a:avLst/>
          </a:prstGeom>
          <a:noFill/>
        </p:spPr>
        <p:txBody>
          <a:bodyPr wrap="square">
            <a:spAutoFit/>
          </a:bodyPr>
          <a:lstStyle/>
          <a:p>
            <a:pPr algn="l"/>
            <a:r>
              <a:rPr sz="1200" b="1" i="0">
                <a:solidFill>
                  <a:srgbClr val="FFFFFF"/>
                </a:solidFill>
                <a:latin typeface="Calibri"/>
              </a:rPr>
              <a:t>📄  Document
Forensics</a:t>
            </a:r>
          </a:p>
        </p:txBody>
      </p:sp>
      <p:sp>
        <p:nvSpPr>
          <p:cNvPr id="12" name="TextBox 11"/>
          <p:cNvSpPr txBox="1"/>
          <p:nvPr/>
        </p:nvSpPr>
        <p:spPr>
          <a:xfrm>
            <a:off x="365760" y="3063239"/>
            <a:ext cx="2011680" cy="1005840"/>
          </a:xfrm>
          <a:prstGeom prst="rect">
            <a:avLst/>
          </a:prstGeom>
          <a:noFill/>
        </p:spPr>
        <p:txBody>
          <a:bodyPr wrap="square">
            <a:spAutoFit/>
          </a:bodyPr>
          <a:lstStyle/>
          <a:p>
            <a:pPr algn="l"/>
            <a:r>
              <a:rPr sz="1100" b="0" i="0">
                <a:solidFill>
                  <a:srgbClr val="333333"/>
                </a:solidFill>
                <a:latin typeface="Calibri"/>
              </a:rPr>
              <a:t>Pixel anomalies,
metadata, fonts</a:t>
            </a:r>
          </a:p>
        </p:txBody>
      </p:sp>
      <p:sp>
        <p:nvSpPr>
          <p:cNvPr id="13" name="Rectangle 12"/>
          <p:cNvSpPr/>
          <p:nvPr/>
        </p:nvSpPr>
        <p:spPr>
          <a:xfrm>
            <a:off x="2606040" y="1920240"/>
            <a:ext cx="2194560" cy="17373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6040" y="1920240"/>
            <a:ext cx="2194560" cy="4114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7480" y="1965960"/>
            <a:ext cx="2011680" cy="347472"/>
          </a:xfrm>
          <a:prstGeom prst="rect">
            <a:avLst/>
          </a:prstGeom>
          <a:noFill/>
        </p:spPr>
        <p:txBody>
          <a:bodyPr wrap="square">
            <a:spAutoFit/>
          </a:bodyPr>
          <a:lstStyle/>
          <a:p>
            <a:pPr algn="l"/>
            <a:r>
              <a:rPr sz="1200" b="1" i="0">
                <a:solidFill>
                  <a:srgbClr val="FFFFFF"/>
                </a:solidFill>
                <a:latin typeface="Calibri"/>
              </a:rPr>
              <a:t>🖼  Image &amp;
Face Analysis</a:t>
            </a:r>
          </a:p>
        </p:txBody>
      </p:sp>
      <p:sp>
        <p:nvSpPr>
          <p:cNvPr id="16" name="TextBox 15"/>
          <p:cNvSpPr txBox="1"/>
          <p:nvPr/>
        </p:nvSpPr>
        <p:spPr>
          <a:xfrm>
            <a:off x="2697480" y="2423160"/>
            <a:ext cx="2011680" cy="1005840"/>
          </a:xfrm>
          <a:prstGeom prst="rect">
            <a:avLst/>
          </a:prstGeom>
          <a:noFill/>
        </p:spPr>
        <p:txBody>
          <a:bodyPr wrap="square">
            <a:spAutoFit/>
          </a:bodyPr>
          <a:lstStyle/>
          <a:p>
            <a:pPr algn="l"/>
            <a:r>
              <a:rPr sz="1100" b="0" i="0">
                <a:solidFill>
                  <a:srgbClr val="333333"/>
                </a:solidFill>
                <a:latin typeface="Calibri"/>
              </a:rPr>
              <a:t>GAN artefacts,
deepfake faces</a:t>
            </a:r>
          </a:p>
        </p:txBody>
      </p:sp>
      <p:sp>
        <p:nvSpPr>
          <p:cNvPr id="17" name="Rectangle 16"/>
          <p:cNvSpPr/>
          <p:nvPr/>
        </p:nvSpPr>
        <p:spPr>
          <a:xfrm>
            <a:off x="9326880" y="1920240"/>
            <a:ext cx="2194560" cy="17373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326880" y="1920240"/>
            <a:ext cx="2194560" cy="4114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19" y="1965960"/>
            <a:ext cx="2011680" cy="347472"/>
          </a:xfrm>
          <a:prstGeom prst="rect">
            <a:avLst/>
          </a:prstGeom>
          <a:noFill/>
        </p:spPr>
        <p:txBody>
          <a:bodyPr wrap="square">
            <a:spAutoFit/>
          </a:bodyPr>
          <a:lstStyle/>
          <a:p>
            <a:pPr algn="l"/>
            <a:r>
              <a:rPr sz="1200" b="1" i="0">
                <a:solidFill>
                  <a:srgbClr val="FFFFFF"/>
                </a:solidFill>
                <a:latin typeface="Calibri"/>
              </a:rPr>
              <a:t>🔊  Audio
Analysis</a:t>
            </a:r>
          </a:p>
        </p:txBody>
      </p:sp>
      <p:sp>
        <p:nvSpPr>
          <p:cNvPr id="20" name="TextBox 19"/>
          <p:cNvSpPr txBox="1"/>
          <p:nvPr/>
        </p:nvSpPr>
        <p:spPr>
          <a:xfrm>
            <a:off x="9418319" y="2423160"/>
            <a:ext cx="2011680" cy="1005840"/>
          </a:xfrm>
          <a:prstGeom prst="rect">
            <a:avLst/>
          </a:prstGeom>
          <a:noFill/>
        </p:spPr>
        <p:txBody>
          <a:bodyPr wrap="square">
            <a:spAutoFit/>
          </a:bodyPr>
          <a:lstStyle/>
          <a:p>
            <a:pPr algn="l"/>
            <a:r>
              <a:rPr sz="1100" b="0" i="0">
                <a:solidFill>
                  <a:srgbClr val="333333"/>
                </a:solidFill>
                <a:latin typeface="Calibri"/>
              </a:rPr>
              <a:t>Cloned voice,
frequency artefacts</a:t>
            </a:r>
          </a:p>
        </p:txBody>
      </p:sp>
      <p:sp>
        <p:nvSpPr>
          <p:cNvPr id="21" name="Rectangle 20"/>
          <p:cNvSpPr/>
          <p:nvPr/>
        </p:nvSpPr>
        <p:spPr>
          <a:xfrm>
            <a:off x="9601200" y="3566160"/>
            <a:ext cx="2194560" cy="17373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01200" y="3566160"/>
            <a:ext cx="2194560" cy="4114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0" y="3611879"/>
            <a:ext cx="2011680" cy="347472"/>
          </a:xfrm>
          <a:prstGeom prst="rect">
            <a:avLst/>
          </a:prstGeom>
          <a:noFill/>
        </p:spPr>
        <p:txBody>
          <a:bodyPr wrap="square">
            <a:spAutoFit/>
          </a:bodyPr>
          <a:lstStyle/>
          <a:p>
            <a:pPr algn="l"/>
            <a:r>
              <a:rPr sz="1200" b="1" i="0">
                <a:solidFill>
                  <a:srgbClr val="FFFFFF"/>
                </a:solidFill>
                <a:latin typeface="Calibri"/>
              </a:rPr>
              <a:t>📝  Text / Profile
AI Detection</a:t>
            </a:r>
          </a:p>
        </p:txBody>
      </p:sp>
      <p:sp>
        <p:nvSpPr>
          <p:cNvPr id="24" name="TextBox 23"/>
          <p:cNvSpPr txBox="1"/>
          <p:nvPr/>
        </p:nvSpPr>
        <p:spPr>
          <a:xfrm>
            <a:off x="9692640" y="4069080"/>
            <a:ext cx="2011680" cy="1005840"/>
          </a:xfrm>
          <a:prstGeom prst="rect">
            <a:avLst/>
          </a:prstGeom>
          <a:noFill/>
        </p:spPr>
        <p:txBody>
          <a:bodyPr wrap="square">
            <a:spAutoFit/>
          </a:bodyPr>
          <a:lstStyle/>
          <a:p>
            <a:pPr algn="l"/>
            <a:r>
              <a:rPr sz="1100" b="0" i="0">
                <a:solidFill>
                  <a:srgbClr val="333333"/>
                </a:solidFill>
                <a:latin typeface="Calibri"/>
              </a:rPr>
              <a:t>LLM-generated
narratives</a:t>
            </a:r>
          </a:p>
        </p:txBody>
      </p:sp>
      <p:sp>
        <p:nvSpPr>
          <p:cNvPr id="25" name="Rectangle 24"/>
          <p:cNvSpPr/>
          <p:nvPr/>
        </p:nvSpPr>
        <p:spPr>
          <a:xfrm>
            <a:off x="365760" y="4206240"/>
            <a:ext cx="2194560" cy="17373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4206240"/>
            <a:ext cx="2194560" cy="4114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251959"/>
            <a:ext cx="2011680" cy="347472"/>
          </a:xfrm>
          <a:prstGeom prst="rect">
            <a:avLst/>
          </a:prstGeom>
          <a:noFill/>
        </p:spPr>
        <p:txBody>
          <a:bodyPr wrap="square">
            <a:spAutoFit/>
          </a:bodyPr>
          <a:lstStyle/>
          <a:p>
            <a:pPr algn="l"/>
            <a:r>
              <a:rPr sz="1200" b="1" i="0">
                <a:solidFill>
                  <a:srgbClr val="FFFFFF"/>
                </a:solidFill>
                <a:latin typeface="Calibri"/>
              </a:rPr>
              <a:t>📡  Behavioural &amp;
Metadata</a:t>
            </a:r>
          </a:p>
        </p:txBody>
      </p:sp>
      <p:sp>
        <p:nvSpPr>
          <p:cNvPr id="28" name="TextBox 27"/>
          <p:cNvSpPr txBox="1"/>
          <p:nvPr/>
        </p:nvSpPr>
        <p:spPr>
          <a:xfrm>
            <a:off x="457200" y="4709159"/>
            <a:ext cx="2011680" cy="1005840"/>
          </a:xfrm>
          <a:prstGeom prst="rect">
            <a:avLst/>
          </a:prstGeom>
          <a:noFill/>
        </p:spPr>
        <p:txBody>
          <a:bodyPr wrap="square">
            <a:spAutoFit/>
          </a:bodyPr>
          <a:lstStyle/>
          <a:p>
            <a:pPr algn="l"/>
            <a:r>
              <a:rPr sz="1100" b="0" i="0">
                <a:solidFill>
                  <a:srgbClr val="333333"/>
                </a:solidFill>
                <a:latin typeface="Calibri"/>
              </a:rPr>
              <a:t>Device, geo &amp;
session signals</a:t>
            </a:r>
          </a:p>
        </p:txBody>
      </p:sp>
      <p:sp>
        <p:nvSpPr>
          <p:cNvPr id="29" name="Rectangle 28"/>
          <p:cNvSpPr/>
          <p:nvPr/>
        </p:nvSpPr>
        <p:spPr>
          <a:xfrm>
            <a:off x="2468880" y="3246120"/>
            <a:ext cx="1965960" cy="4572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51960" y="2468880"/>
            <a:ext cx="457200" cy="4572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92440" y="2468880"/>
            <a:ext cx="457200" cy="4572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55279" y="3931920"/>
            <a:ext cx="1828800" cy="4572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560320" y="4572000"/>
            <a:ext cx="1965960" cy="4572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14800" y="5349240"/>
            <a:ext cx="3959352" cy="1188720"/>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06240" y="5413248"/>
            <a:ext cx="3749039" cy="411480"/>
          </a:xfrm>
          <a:prstGeom prst="rect">
            <a:avLst/>
          </a:prstGeom>
          <a:noFill/>
        </p:spPr>
        <p:txBody>
          <a:bodyPr wrap="square">
            <a:spAutoFit/>
          </a:bodyPr>
          <a:lstStyle/>
          <a:p>
            <a:pPr algn="ctr"/>
            <a:r>
              <a:rPr sz="1300" b="1" i="0">
                <a:solidFill>
                  <a:srgbClr val="FFFFFF"/>
                </a:solidFill>
                <a:latin typeface="Calibri"/>
              </a:rPr>
              <a:t>Ensemble Risk Score  0.0 – 1.0</a:t>
            </a:r>
          </a:p>
        </p:txBody>
      </p:sp>
      <p:sp>
        <p:nvSpPr>
          <p:cNvPr id="36" name="TextBox 35"/>
          <p:cNvSpPr txBox="1"/>
          <p:nvPr/>
        </p:nvSpPr>
        <p:spPr>
          <a:xfrm>
            <a:off x="4206240" y="5833872"/>
            <a:ext cx="3749039" cy="347472"/>
          </a:xfrm>
          <a:prstGeom prst="rect">
            <a:avLst/>
          </a:prstGeom>
          <a:noFill/>
        </p:spPr>
        <p:txBody>
          <a:bodyPr wrap="square">
            <a:spAutoFit/>
          </a:bodyPr>
          <a:lstStyle/>
          <a:p>
            <a:pPr algn="ctr"/>
            <a:r>
              <a:rPr sz="1100" b="0" i="0">
                <a:solidFill>
                  <a:srgbClr val="FFFFFF"/>
                </a:solidFill>
                <a:latin typeface="Calibri"/>
              </a:rPr>
              <a:t>✓ Explainable  ·  ✓ Audit-ready  ·  ✓ SAR auto-tag</a:t>
            </a:r>
          </a:p>
        </p:txBody>
      </p:sp>
      <p:sp>
        <p:nvSpPr>
          <p:cNvPr id="37" name="Rectangle 36"/>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Technical Architecture</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Microservice layer injected into CitiDirect® — zero disruption to client workflow</a:t>
            </a:r>
          </a:p>
        </p:txBody>
      </p:sp>
      <p:sp>
        <p:nvSpPr>
          <p:cNvPr id="6" name="Rectangle 5"/>
          <p:cNvSpPr/>
          <p:nvPr/>
        </p:nvSpPr>
        <p:spPr>
          <a:xfrm>
            <a:off x="0" y="1325880"/>
            <a:ext cx="1417320" cy="105156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 y="1508760"/>
            <a:ext cx="1325880" cy="685800"/>
          </a:xfrm>
          <a:prstGeom prst="rect">
            <a:avLst/>
          </a:prstGeom>
          <a:noFill/>
        </p:spPr>
        <p:txBody>
          <a:bodyPr wrap="square">
            <a:spAutoFit/>
          </a:bodyPr>
          <a:lstStyle/>
          <a:p>
            <a:pPr algn="ctr"/>
            <a:r>
              <a:rPr sz="1000" b="1" i="0">
                <a:solidFill>
                  <a:srgbClr val="FFFFFF"/>
                </a:solidFill>
                <a:latin typeface="Calibri"/>
              </a:rPr>
              <a:t>Client Layer</a:t>
            </a:r>
          </a:p>
        </p:txBody>
      </p:sp>
      <p:sp>
        <p:nvSpPr>
          <p:cNvPr id="8" name="Rectangle 7"/>
          <p:cNvSpPr/>
          <p:nvPr/>
        </p:nvSpPr>
        <p:spPr>
          <a:xfrm>
            <a:off x="0" y="2606039"/>
            <a:ext cx="1417320" cy="105156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 y="2788920"/>
            <a:ext cx="1325880" cy="685800"/>
          </a:xfrm>
          <a:prstGeom prst="rect">
            <a:avLst/>
          </a:prstGeom>
          <a:noFill/>
        </p:spPr>
        <p:txBody>
          <a:bodyPr wrap="square">
            <a:spAutoFit/>
          </a:bodyPr>
          <a:lstStyle/>
          <a:p>
            <a:pPr algn="ctr"/>
            <a:r>
              <a:rPr sz="1000" b="1" i="0">
                <a:solidFill>
                  <a:srgbClr val="FFFFFF"/>
                </a:solidFill>
                <a:latin typeface="Calibri"/>
              </a:rPr>
              <a:t>API Gateway</a:t>
            </a:r>
          </a:p>
        </p:txBody>
      </p:sp>
      <p:sp>
        <p:nvSpPr>
          <p:cNvPr id="10" name="Rectangle 9"/>
          <p:cNvSpPr/>
          <p:nvPr/>
        </p:nvSpPr>
        <p:spPr>
          <a:xfrm>
            <a:off x="0" y="3886200"/>
            <a:ext cx="1417320" cy="105156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 y="4069080"/>
            <a:ext cx="1325880" cy="685800"/>
          </a:xfrm>
          <a:prstGeom prst="rect">
            <a:avLst/>
          </a:prstGeom>
          <a:noFill/>
        </p:spPr>
        <p:txBody>
          <a:bodyPr wrap="square">
            <a:spAutoFit/>
          </a:bodyPr>
          <a:lstStyle/>
          <a:p>
            <a:pPr algn="ctr"/>
            <a:r>
              <a:rPr sz="1000" b="1" i="0">
                <a:solidFill>
                  <a:srgbClr val="FFFFFF"/>
                </a:solidFill>
                <a:latin typeface="Calibri"/>
              </a:rPr>
              <a:t>TrustGuard Core</a:t>
            </a:r>
          </a:p>
        </p:txBody>
      </p:sp>
      <p:sp>
        <p:nvSpPr>
          <p:cNvPr id="12" name="Rectangle 11"/>
          <p:cNvSpPr/>
          <p:nvPr/>
        </p:nvSpPr>
        <p:spPr>
          <a:xfrm>
            <a:off x="0" y="5166359"/>
            <a:ext cx="1417320" cy="105156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 y="5349240"/>
            <a:ext cx="1325880" cy="685800"/>
          </a:xfrm>
          <a:prstGeom prst="rect">
            <a:avLst/>
          </a:prstGeom>
          <a:noFill/>
        </p:spPr>
        <p:txBody>
          <a:bodyPr wrap="square">
            <a:spAutoFit/>
          </a:bodyPr>
          <a:lstStyle/>
          <a:p>
            <a:pPr algn="ctr"/>
            <a:r>
              <a:rPr sz="1000" b="1" i="0">
                <a:solidFill>
                  <a:srgbClr val="FFFFFF"/>
                </a:solidFill>
                <a:latin typeface="Calibri"/>
              </a:rPr>
              <a:t>Citi Platforms</a:t>
            </a:r>
          </a:p>
        </p:txBody>
      </p:sp>
      <p:sp>
        <p:nvSpPr>
          <p:cNvPr id="14" name="Rectangle 13"/>
          <p:cNvSpPr/>
          <p:nvPr/>
        </p:nvSpPr>
        <p:spPr>
          <a:xfrm>
            <a:off x="1508760" y="1325880"/>
            <a:ext cx="9966960" cy="10515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00200" y="1417320"/>
            <a:ext cx="2103120" cy="8686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45920" y="1463040"/>
            <a:ext cx="2011680" cy="777240"/>
          </a:xfrm>
          <a:prstGeom prst="rect">
            <a:avLst/>
          </a:prstGeom>
          <a:noFill/>
        </p:spPr>
        <p:txBody>
          <a:bodyPr wrap="square">
            <a:spAutoFit/>
          </a:bodyPr>
          <a:lstStyle/>
          <a:p>
            <a:pPr algn="ctr"/>
            <a:r>
              <a:rPr sz="1100" b="1" i="0">
                <a:solidFill>
                  <a:srgbClr val="FFFFFF"/>
                </a:solidFill>
                <a:latin typeface="Calibri"/>
              </a:rPr>
              <a:t>CitiDirect®
Portal</a:t>
            </a:r>
          </a:p>
        </p:txBody>
      </p:sp>
      <p:sp>
        <p:nvSpPr>
          <p:cNvPr id="17" name="Rectangle 16"/>
          <p:cNvSpPr/>
          <p:nvPr/>
        </p:nvSpPr>
        <p:spPr>
          <a:xfrm>
            <a:off x="3931920" y="1417320"/>
            <a:ext cx="2103120" cy="8686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77639" y="1463040"/>
            <a:ext cx="2011680" cy="777240"/>
          </a:xfrm>
          <a:prstGeom prst="rect">
            <a:avLst/>
          </a:prstGeom>
          <a:noFill/>
        </p:spPr>
        <p:txBody>
          <a:bodyPr wrap="square">
            <a:spAutoFit/>
          </a:bodyPr>
          <a:lstStyle/>
          <a:p>
            <a:pPr algn="ctr"/>
            <a:r>
              <a:rPr sz="1100" b="1" i="0">
                <a:solidFill>
                  <a:srgbClr val="FFFFFF"/>
                </a:solidFill>
                <a:latin typeface="Calibri"/>
              </a:rPr>
              <a:t>Call Centre
System</a:t>
            </a:r>
          </a:p>
        </p:txBody>
      </p:sp>
      <p:sp>
        <p:nvSpPr>
          <p:cNvPr id="19" name="Rectangle 18"/>
          <p:cNvSpPr/>
          <p:nvPr/>
        </p:nvSpPr>
        <p:spPr>
          <a:xfrm>
            <a:off x="6263640" y="1417320"/>
            <a:ext cx="2103120" cy="8686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59" y="1463040"/>
            <a:ext cx="2011680" cy="777240"/>
          </a:xfrm>
          <a:prstGeom prst="rect">
            <a:avLst/>
          </a:prstGeom>
          <a:noFill/>
        </p:spPr>
        <p:txBody>
          <a:bodyPr wrap="square">
            <a:spAutoFit/>
          </a:bodyPr>
          <a:lstStyle/>
          <a:p>
            <a:pPr algn="ctr"/>
            <a:r>
              <a:rPr sz="1100" b="1" i="0">
                <a:solidFill>
                  <a:srgbClr val="FFFFFF"/>
                </a:solidFill>
                <a:latin typeface="Calibri"/>
              </a:rPr>
              <a:t>Mobile
App</a:t>
            </a:r>
          </a:p>
        </p:txBody>
      </p:sp>
      <p:sp>
        <p:nvSpPr>
          <p:cNvPr id="21" name="Rectangle 20"/>
          <p:cNvSpPr/>
          <p:nvPr/>
        </p:nvSpPr>
        <p:spPr>
          <a:xfrm>
            <a:off x="8595359" y="1417320"/>
            <a:ext cx="2103120" cy="8686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41080" y="1463040"/>
            <a:ext cx="2011680" cy="777240"/>
          </a:xfrm>
          <a:prstGeom prst="rect">
            <a:avLst/>
          </a:prstGeom>
          <a:noFill/>
        </p:spPr>
        <p:txBody>
          <a:bodyPr wrap="square">
            <a:spAutoFit/>
          </a:bodyPr>
          <a:lstStyle/>
          <a:p>
            <a:pPr algn="ctr"/>
            <a:r>
              <a:rPr sz="1100" b="1" i="0">
                <a:solidFill>
                  <a:srgbClr val="FFFFFF"/>
                </a:solidFill>
                <a:latin typeface="Calibri"/>
              </a:rPr>
              <a:t>SWIFT KYC
Registry</a:t>
            </a:r>
          </a:p>
        </p:txBody>
      </p:sp>
      <p:sp>
        <p:nvSpPr>
          <p:cNvPr id="23" name="Rectangle 22"/>
          <p:cNvSpPr/>
          <p:nvPr/>
        </p:nvSpPr>
        <p:spPr>
          <a:xfrm>
            <a:off x="5943600" y="2377440"/>
            <a:ext cx="301752" cy="22860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508760" y="2606040"/>
            <a:ext cx="9966960" cy="1051560"/>
          </a:xfrm>
          <a:prstGeom prst="rect">
            <a:avLst/>
          </a:prstGeom>
          <a:solidFill>
            <a:srgbClr val="E0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00200" y="2715768"/>
            <a:ext cx="9784080" cy="640080"/>
          </a:xfrm>
          <a:prstGeom prst="rect">
            <a:avLst/>
          </a:prstGeom>
          <a:noFill/>
        </p:spPr>
        <p:txBody>
          <a:bodyPr wrap="square">
            <a:spAutoFit/>
          </a:bodyPr>
          <a:lstStyle/>
          <a:p>
            <a:pPr algn="ctr"/>
            <a:r>
              <a:rPr sz="1200" b="1" i="0">
                <a:solidFill>
                  <a:srgbClr val="002266"/>
                </a:solidFill>
                <a:latin typeface="Calibri"/>
              </a:rPr>
              <a:t>REST API Gateway  (FastAPI + Docker on Google Cloud)  —  /detect/document  /detect/image  /detect/audio  /detect/text</a:t>
            </a:r>
          </a:p>
        </p:txBody>
      </p:sp>
      <p:sp>
        <p:nvSpPr>
          <p:cNvPr id="26" name="Rectangle 25"/>
          <p:cNvSpPr/>
          <p:nvPr/>
        </p:nvSpPr>
        <p:spPr>
          <a:xfrm>
            <a:off x="5943600" y="3657600"/>
            <a:ext cx="301752" cy="22860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08760" y="3886200"/>
            <a:ext cx="9966960" cy="105156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00200" y="3977639"/>
            <a:ext cx="1783080" cy="8686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0" y="4023360"/>
            <a:ext cx="1691640" cy="777240"/>
          </a:xfrm>
          <a:prstGeom prst="rect">
            <a:avLst/>
          </a:prstGeom>
          <a:noFill/>
        </p:spPr>
        <p:txBody>
          <a:bodyPr wrap="square">
            <a:spAutoFit/>
          </a:bodyPr>
          <a:lstStyle/>
          <a:p>
            <a:pPr algn="ctr"/>
            <a:r>
              <a:rPr sz="950" b="1" i="0">
                <a:solidFill>
                  <a:srgbClr val="FFFFFF"/>
                </a:solidFill>
                <a:latin typeface="Calibri"/>
              </a:rPr>
              <a:t>Document
Forensics Engine</a:t>
            </a:r>
          </a:p>
        </p:txBody>
      </p:sp>
      <p:sp>
        <p:nvSpPr>
          <p:cNvPr id="30" name="Rectangle 29"/>
          <p:cNvSpPr/>
          <p:nvPr/>
        </p:nvSpPr>
        <p:spPr>
          <a:xfrm>
            <a:off x="3520440" y="3977639"/>
            <a:ext cx="1783080" cy="8686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66160" y="4023360"/>
            <a:ext cx="1691640" cy="777240"/>
          </a:xfrm>
          <a:prstGeom prst="rect">
            <a:avLst/>
          </a:prstGeom>
          <a:noFill/>
        </p:spPr>
        <p:txBody>
          <a:bodyPr wrap="square">
            <a:spAutoFit/>
          </a:bodyPr>
          <a:lstStyle/>
          <a:p>
            <a:pPr algn="ctr"/>
            <a:r>
              <a:rPr sz="950" b="1" i="0">
                <a:solidFill>
                  <a:srgbClr val="FFFFFF"/>
                </a:solidFill>
                <a:latin typeface="Calibri"/>
              </a:rPr>
              <a:t>Image / Face
Deepfake Detector</a:t>
            </a:r>
          </a:p>
        </p:txBody>
      </p:sp>
      <p:sp>
        <p:nvSpPr>
          <p:cNvPr id="32" name="Rectangle 31"/>
          <p:cNvSpPr/>
          <p:nvPr/>
        </p:nvSpPr>
        <p:spPr>
          <a:xfrm>
            <a:off x="5440680" y="3977639"/>
            <a:ext cx="1783080" cy="8686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0" y="4023360"/>
            <a:ext cx="1691640" cy="777240"/>
          </a:xfrm>
          <a:prstGeom prst="rect">
            <a:avLst/>
          </a:prstGeom>
          <a:noFill/>
        </p:spPr>
        <p:txBody>
          <a:bodyPr wrap="square">
            <a:spAutoFit/>
          </a:bodyPr>
          <a:lstStyle/>
          <a:p>
            <a:pPr algn="ctr"/>
            <a:r>
              <a:rPr sz="950" b="1" i="0">
                <a:solidFill>
                  <a:srgbClr val="FFFFFF"/>
                </a:solidFill>
                <a:latin typeface="Calibri"/>
              </a:rPr>
              <a:t>Audio Clone
Detector</a:t>
            </a:r>
          </a:p>
        </p:txBody>
      </p:sp>
      <p:sp>
        <p:nvSpPr>
          <p:cNvPr id="34" name="Rectangle 33"/>
          <p:cNvSpPr/>
          <p:nvPr/>
        </p:nvSpPr>
        <p:spPr>
          <a:xfrm>
            <a:off x="7360920" y="3977639"/>
            <a:ext cx="1783080" cy="8686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0" y="4023360"/>
            <a:ext cx="1691640" cy="777240"/>
          </a:xfrm>
          <a:prstGeom prst="rect">
            <a:avLst/>
          </a:prstGeom>
          <a:noFill/>
        </p:spPr>
        <p:txBody>
          <a:bodyPr wrap="square">
            <a:spAutoFit/>
          </a:bodyPr>
          <a:lstStyle/>
          <a:p>
            <a:pPr algn="ctr"/>
            <a:r>
              <a:rPr sz="950" b="1" i="0">
                <a:solidFill>
                  <a:srgbClr val="FFFFFF"/>
                </a:solidFill>
                <a:latin typeface="Calibri"/>
              </a:rPr>
              <a:t>Text AI
Classifier</a:t>
            </a:r>
          </a:p>
        </p:txBody>
      </p:sp>
      <p:sp>
        <p:nvSpPr>
          <p:cNvPr id="36" name="Rectangle 35"/>
          <p:cNvSpPr/>
          <p:nvPr/>
        </p:nvSpPr>
        <p:spPr>
          <a:xfrm>
            <a:off x="9281160" y="3977639"/>
            <a:ext cx="1783080" cy="8686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80" y="4023360"/>
            <a:ext cx="1691640" cy="777240"/>
          </a:xfrm>
          <a:prstGeom prst="rect">
            <a:avLst/>
          </a:prstGeom>
          <a:noFill/>
        </p:spPr>
        <p:txBody>
          <a:bodyPr wrap="square">
            <a:spAutoFit/>
          </a:bodyPr>
          <a:lstStyle/>
          <a:p>
            <a:pPr algn="ctr"/>
            <a:r>
              <a:rPr sz="950" b="1" i="0">
                <a:solidFill>
                  <a:srgbClr val="FFFFFF"/>
                </a:solidFill>
                <a:latin typeface="Calibri"/>
              </a:rPr>
              <a:t>Ensemble
Scorer</a:t>
            </a:r>
          </a:p>
        </p:txBody>
      </p:sp>
      <p:sp>
        <p:nvSpPr>
          <p:cNvPr id="38" name="Rectangle 37"/>
          <p:cNvSpPr/>
          <p:nvPr/>
        </p:nvSpPr>
        <p:spPr>
          <a:xfrm>
            <a:off x="5943600" y="4937760"/>
            <a:ext cx="301752" cy="22860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508760" y="5166360"/>
            <a:ext cx="9966960" cy="10515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600200" y="5257800"/>
            <a:ext cx="1783080" cy="868680"/>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645920" y="5303520"/>
            <a:ext cx="1691640" cy="777240"/>
          </a:xfrm>
          <a:prstGeom prst="rect">
            <a:avLst/>
          </a:prstGeom>
          <a:noFill/>
        </p:spPr>
        <p:txBody>
          <a:bodyPr wrap="square">
            <a:spAutoFit/>
          </a:bodyPr>
          <a:lstStyle/>
          <a:p>
            <a:pPr algn="ctr"/>
            <a:r>
              <a:rPr sz="950" b="1" i="0">
                <a:solidFill>
                  <a:srgbClr val="FFFFFF"/>
                </a:solidFill>
                <a:latin typeface="Calibri"/>
              </a:rPr>
              <a:t>CitiKYC
Repository</a:t>
            </a:r>
          </a:p>
        </p:txBody>
      </p:sp>
      <p:sp>
        <p:nvSpPr>
          <p:cNvPr id="42" name="Rectangle 41"/>
          <p:cNvSpPr/>
          <p:nvPr/>
        </p:nvSpPr>
        <p:spPr>
          <a:xfrm>
            <a:off x="3520440" y="5257800"/>
            <a:ext cx="1783080" cy="868680"/>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66160" y="5303520"/>
            <a:ext cx="1691640" cy="777240"/>
          </a:xfrm>
          <a:prstGeom prst="rect">
            <a:avLst/>
          </a:prstGeom>
          <a:noFill/>
        </p:spPr>
        <p:txBody>
          <a:bodyPr wrap="square">
            <a:spAutoFit/>
          </a:bodyPr>
          <a:lstStyle/>
          <a:p>
            <a:pPr algn="ctr"/>
            <a:r>
              <a:rPr sz="950" b="1" i="0">
                <a:solidFill>
                  <a:srgbClr val="FFFFFF"/>
                </a:solidFill>
                <a:latin typeface="Calibri"/>
              </a:rPr>
              <a:t>Citi Stylus
Doc Intelligence</a:t>
            </a:r>
          </a:p>
        </p:txBody>
      </p:sp>
      <p:sp>
        <p:nvSpPr>
          <p:cNvPr id="44" name="Rectangle 43"/>
          <p:cNvSpPr/>
          <p:nvPr/>
        </p:nvSpPr>
        <p:spPr>
          <a:xfrm>
            <a:off x="5440680" y="5257800"/>
            <a:ext cx="1783080" cy="868680"/>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0" y="5303520"/>
            <a:ext cx="1691640" cy="777240"/>
          </a:xfrm>
          <a:prstGeom prst="rect">
            <a:avLst/>
          </a:prstGeom>
          <a:noFill/>
        </p:spPr>
        <p:txBody>
          <a:bodyPr wrap="square">
            <a:spAutoFit/>
          </a:bodyPr>
          <a:lstStyle/>
          <a:p>
            <a:pPr algn="ctr"/>
            <a:r>
              <a:rPr sz="950" b="1" i="0">
                <a:solidFill>
                  <a:srgbClr val="FFFFFF"/>
                </a:solidFill>
                <a:latin typeface="Calibri"/>
              </a:rPr>
              <a:t>Helix
Platform</a:t>
            </a:r>
          </a:p>
        </p:txBody>
      </p:sp>
      <p:sp>
        <p:nvSpPr>
          <p:cNvPr id="46" name="Rectangle 45"/>
          <p:cNvSpPr/>
          <p:nvPr/>
        </p:nvSpPr>
        <p:spPr>
          <a:xfrm>
            <a:off x="7360920" y="5257800"/>
            <a:ext cx="1783080" cy="868680"/>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06640" y="5303520"/>
            <a:ext cx="1691640" cy="777240"/>
          </a:xfrm>
          <a:prstGeom prst="rect">
            <a:avLst/>
          </a:prstGeom>
          <a:noFill/>
        </p:spPr>
        <p:txBody>
          <a:bodyPr wrap="square">
            <a:spAutoFit/>
          </a:bodyPr>
          <a:lstStyle/>
          <a:p>
            <a:pPr algn="ctr"/>
            <a:r>
              <a:rPr sz="950" b="1" i="0">
                <a:solidFill>
                  <a:srgbClr val="FFFFFF"/>
                </a:solidFill>
                <a:latin typeface="Calibri"/>
              </a:rPr>
              <a:t>SAR Auto-
Tag Pipeline</a:t>
            </a:r>
          </a:p>
        </p:txBody>
      </p:sp>
      <p:sp>
        <p:nvSpPr>
          <p:cNvPr id="48" name="Rectangle 47"/>
          <p:cNvSpPr/>
          <p:nvPr/>
        </p:nvSpPr>
        <p:spPr>
          <a:xfrm>
            <a:off x="9281160" y="5257800"/>
            <a:ext cx="1783080" cy="868680"/>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0" y="5303520"/>
            <a:ext cx="1691640" cy="777240"/>
          </a:xfrm>
          <a:prstGeom prst="rect">
            <a:avLst/>
          </a:prstGeom>
          <a:noFill/>
        </p:spPr>
        <p:txBody>
          <a:bodyPr wrap="square">
            <a:spAutoFit/>
          </a:bodyPr>
          <a:lstStyle/>
          <a:p>
            <a:pPr algn="ctr"/>
            <a:r>
              <a:rPr sz="950" b="1" i="0">
                <a:solidFill>
                  <a:srgbClr val="FFFFFF"/>
                </a:solidFill>
                <a:latin typeface="Calibri"/>
              </a:rPr>
              <a:t>Google Cloud
AI / ML</a:t>
            </a:r>
          </a:p>
        </p:txBody>
      </p:sp>
      <p:sp>
        <p:nvSpPr>
          <p:cNvPr id="50" name="Rectangle 49"/>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Detection Capabilities — What TrustGuard Catches</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Five specialised AI models fused into a single ensemble risk score</a:t>
            </a:r>
          </a:p>
        </p:txBody>
      </p:sp>
      <p:sp>
        <p:nvSpPr>
          <p:cNvPr id="6" name="Rectangle 5"/>
          <p:cNvSpPr/>
          <p:nvPr/>
        </p:nvSpPr>
        <p:spPr>
          <a:xfrm>
            <a:off x="274320" y="1188720"/>
            <a:ext cx="11640312" cy="4114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34440"/>
            <a:ext cx="1463040" cy="320040"/>
          </a:xfrm>
          <a:prstGeom prst="rect">
            <a:avLst/>
          </a:prstGeom>
          <a:noFill/>
        </p:spPr>
        <p:txBody>
          <a:bodyPr wrap="square">
            <a:spAutoFit/>
          </a:bodyPr>
          <a:lstStyle/>
          <a:p>
            <a:pPr algn="ctr"/>
            <a:r>
              <a:rPr sz="1100" b="1" i="0">
                <a:solidFill>
                  <a:srgbClr val="FFFFFF"/>
                </a:solidFill>
                <a:latin typeface="Calibri"/>
              </a:rPr>
              <a:t>Modality</a:t>
            </a:r>
          </a:p>
        </p:txBody>
      </p:sp>
      <p:sp>
        <p:nvSpPr>
          <p:cNvPr id="8" name="TextBox 7"/>
          <p:cNvSpPr txBox="1"/>
          <p:nvPr/>
        </p:nvSpPr>
        <p:spPr>
          <a:xfrm>
            <a:off x="1920240" y="1234440"/>
            <a:ext cx="1371600" cy="320040"/>
          </a:xfrm>
          <a:prstGeom prst="rect">
            <a:avLst/>
          </a:prstGeom>
          <a:noFill/>
        </p:spPr>
        <p:txBody>
          <a:bodyPr wrap="square">
            <a:spAutoFit/>
          </a:bodyPr>
          <a:lstStyle/>
          <a:p>
            <a:pPr algn="ctr"/>
            <a:r>
              <a:rPr sz="1100" b="1" i="0">
                <a:solidFill>
                  <a:srgbClr val="FFFFFF"/>
                </a:solidFill>
                <a:latin typeface="Calibri"/>
              </a:rPr>
              <a:t>Input Types</a:t>
            </a:r>
          </a:p>
        </p:txBody>
      </p:sp>
      <p:sp>
        <p:nvSpPr>
          <p:cNvPr id="9" name="TextBox 8"/>
          <p:cNvSpPr txBox="1"/>
          <p:nvPr/>
        </p:nvSpPr>
        <p:spPr>
          <a:xfrm>
            <a:off x="3383280" y="1234440"/>
            <a:ext cx="5029200" cy="320040"/>
          </a:xfrm>
          <a:prstGeom prst="rect">
            <a:avLst/>
          </a:prstGeom>
          <a:noFill/>
        </p:spPr>
        <p:txBody>
          <a:bodyPr wrap="square">
            <a:spAutoFit/>
          </a:bodyPr>
          <a:lstStyle/>
          <a:p>
            <a:pPr algn="ctr"/>
            <a:r>
              <a:rPr sz="1100" b="1" i="0">
                <a:solidFill>
                  <a:srgbClr val="FFFFFF"/>
                </a:solidFill>
                <a:latin typeface="Calibri"/>
              </a:rPr>
              <a:t>Techniques</a:t>
            </a:r>
          </a:p>
        </p:txBody>
      </p:sp>
      <p:sp>
        <p:nvSpPr>
          <p:cNvPr id="10" name="TextBox 9"/>
          <p:cNvSpPr txBox="1"/>
          <p:nvPr/>
        </p:nvSpPr>
        <p:spPr>
          <a:xfrm>
            <a:off x="8503920" y="1234440"/>
            <a:ext cx="3657600" cy="320040"/>
          </a:xfrm>
          <a:prstGeom prst="rect">
            <a:avLst/>
          </a:prstGeom>
          <a:noFill/>
        </p:spPr>
        <p:txBody>
          <a:bodyPr wrap="square">
            <a:spAutoFit/>
          </a:bodyPr>
          <a:lstStyle/>
          <a:p>
            <a:pPr algn="ctr"/>
            <a:r>
              <a:rPr sz="1100" b="1" i="0">
                <a:solidFill>
                  <a:srgbClr val="FFFFFF"/>
                </a:solidFill>
                <a:latin typeface="Calibri"/>
              </a:rPr>
              <a:t>Catches</a:t>
            </a:r>
          </a:p>
        </p:txBody>
      </p:sp>
      <p:sp>
        <p:nvSpPr>
          <p:cNvPr id="11" name="Rectangle 10"/>
          <p:cNvSpPr/>
          <p:nvPr/>
        </p:nvSpPr>
        <p:spPr>
          <a:xfrm>
            <a:off x="274320" y="1664208"/>
            <a:ext cx="11640312" cy="9144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664208"/>
            <a:ext cx="73152" cy="914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737360"/>
            <a:ext cx="1417320" cy="804672"/>
          </a:xfrm>
          <a:prstGeom prst="rect">
            <a:avLst/>
          </a:prstGeom>
          <a:noFill/>
        </p:spPr>
        <p:txBody>
          <a:bodyPr wrap="square">
            <a:spAutoFit/>
          </a:bodyPr>
          <a:lstStyle/>
          <a:p>
            <a:pPr algn="ctr"/>
            <a:r>
              <a:rPr sz="1000" b="1" i="0">
                <a:solidFill>
                  <a:srgbClr val="002266"/>
                </a:solidFill>
                <a:latin typeface="Calibri"/>
              </a:rPr>
              <a:t>📄
Document
Forensics</a:t>
            </a:r>
          </a:p>
        </p:txBody>
      </p:sp>
      <p:sp>
        <p:nvSpPr>
          <p:cNvPr id="14" name="TextBox 13"/>
          <p:cNvSpPr txBox="1"/>
          <p:nvPr/>
        </p:nvSpPr>
        <p:spPr>
          <a:xfrm>
            <a:off x="1874519" y="1737360"/>
            <a:ext cx="1325880" cy="804672"/>
          </a:xfrm>
          <a:prstGeom prst="rect">
            <a:avLst/>
          </a:prstGeom>
          <a:noFill/>
        </p:spPr>
        <p:txBody>
          <a:bodyPr wrap="square">
            <a:spAutoFit/>
          </a:bodyPr>
          <a:lstStyle/>
          <a:p>
            <a:pPr algn="l"/>
            <a:r>
              <a:rPr sz="950" b="0" i="0">
                <a:solidFill>
                  <a:srgbClr val="333333"/>
                </a:solidFill>
                <a:latin typeface="Calibri"/>
              </a:rPr>
              <a:t>PDF, JPG, PNG, TIFF</a:t>
            </a:r>
          </a:p>
        </p:txBody>
      </p:sp>
      <p:sp>
        <p:nvSpPr>
          <p:cNvPr id="15" name="TextBox 14"/>
          <p:cNvSpPr txBox="1"/>
          <p:nvPr/>
        </p:nvSpPr>
        <p:spPr>
          <a:xfrm>
            <a:off x="3246120" y="1737360"/>
            <a:ext cx="4892040" cy="804672"/>
          </a:xfrm>
          <a:prstGeom prst="rect">
            <a:avLst/>
          </a:prstGeom>
          <a:noFill/>
        </p:spPr>
        <p:txBody>
          <a:bodyPr wrap="square">
            <a:spAutoFit/>
          </a:bodyPr>
          <a:lstStyle/>
          <a:p>
            <a:pPr algn="l"/>
            <a:r>
              <a:rPr sz="850" b="0" i="0">
                <a:solidFill>
                  <a:srgbClr val="333333"/>
                </a:solidFill>
                <a:latin typeface="Calibri"/>
              </a:rPr>
              <a:t>Pixel-level GAN artefacts · Inconsistent fonts &amp; kerning · Metadata timestamp mismatches · Digital watermark absence · Compression signature analysis</a:t>
            </a:r>
          </a:p>
        </p:txBody>
      </p:sp>
      <p:sp>
        <p:nvSpPr>
          <p:cNvPr id="16" name="TextBox 15"/>
          <p:cNvSpPr txBox="1"/>
          <p:nvPr/>
        </p:nvSpPr>
        <p:spPr>
          <a:xfrm>
            <a:off x="8183879" y="1737360"/>
            <a:ext cx="3611880" cy="804672"/>
          </a:xfrm>
          <a:prstGeom prst="rect">
            <a:avLst/>
          </a:prstGeom>
          <a:noFill/>
        </p:spPr>
        <p:txBody>
          <a:bodyPr wrap="square">
            <a:spAutoFit/>
          </a:bodyPr>
          <a:lstStyle/>
          <a:p>
            <a:pPr algn="l"/>
            <a:r>
              <a:rPr sz="900" b="0" i="0">
                <a:solidFill>
                  <a:srgbClr val="002266"/>
                </a:solidFill>
                <a:latin typeface="Calibri"/>
              </a:rPr>
              <a:t>AI-generated IDs, utility bills, bank statements, corporate certificates</a:t>
            </a:r>
          </a:p>
        </p:txBody>
      </p:sp>
      <p:sp>
        <p:nvSpPr>
          <p:cNvPr id="17" name="Rectangle 16"/>
          <p:cNvSpPr/>
          <p:nvPr/>
        </p:nvSpPr>
        <p:spPr>
          <a:xfrm>
            <a:off x="274320" y="2624328"/>
            <a:ext cx="11640312"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2624328"/>
            <a:ext cx="73152" cy="914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697480"/>
            <a:ext cx="1417320" cy="804672"/>
          </a:xfrm>
          <a:prstGeom prst="rect">
            <a:avLst/>
          </a:prstGeom>
          <a:noFill/>
        </p:spPr>
        <p:txBody>
          <a:bodyPr wrap="square">
            <a:spAutoFit/>
          </a:bodyPr>
          <a:lstStyle/>
          <a:p>
            <a:pPr algn="ctr"/>
            <a:r>
              <a:rPr sz="1000" b="1" i="0">
                <a:solidFill>
                  <a:srgbClr val="002266"/>
                </a:solidFill>
                <a:latin typeface="Calibri"/>
              </a:rPr>
              <a:t>🖼
Image &amp; Face
Deepfake</a:t>
            </a:r>
          </a:p>
        </p:txBody>
      </p:sp>
      <p:sp>
        <p:nvSpPr>
          <p:cNvPr id="20" name="TextBox 19"/>
          <p:cNvSpPr txBox="1"/>
          <p:nvPr/>
        </p:nvSpPr>
        <p:spPr>
          <a:xfrm>
            <a:off x="1874519" y="2697480"/>
            <a:ext cx="1325880" cy="804672"/>
          </a:xfrm>
          <a:prstGeom prst="rect">
            <a:avLst/>
          </a:prstGeom>
          <a:noFill/>
        </p:spPr>
        <p:txBody>
          <a:bodyPr wrap="square">
            <a:spAutoFit/>
          </a:bodyPr>
          <a:lstStyle/>
          <a:p>
            <a:pPr algn="l"/>
            <a:r>
              <a:rPr sz="950" b="0" i="0">
                <a:solidFill>
                  <a:srgbClr val="333333"/>
                </a:solidFill>
                <a:latin typeface="Calibri"/>
              </a:rPr>
              <a:t>JPEG, PNG, BMP</a:t>
            </a:r>
          </a:p>
        </p:txBody>
      </p:sp>
      <p:sp>
        <p:nvSpPr>
          <p:cNvPr id="21" name="TextBox 20"/>
          <p:cNvSpPr txBox="1"/>
          <p:nvPr/>
        </p:nvSpPr>
        <p:spPr>
          <a:xfrm>
            <a:off x="3246120" y="2697480"/>
            <a:ext cx="4892040" cy="804672"/>
          </a:xfrm>
          <a:prstGeom prst="rect">
            <a:avLst/>
          </a:prstGeom>
          <a:noFill/>
        </p:spPr>
        <p:txBody>
          <a:bodyPr wrap="square">
            <a:spAutoFit/>
          </a:bodyPr>
          <a:lstStyle/>
          <a:p>
            <a:pPr algn="l"/>
            <a:r>
              <a:rPr sz="850" b="0" i="0">
                <a:solidFill>
                  <a:srgbClr val="333333"/>
                </a:solidFill>
                <a:latin typeface="Calibri"/>
              </a:rPr>
              <a:t>FaceForensics++ model · Frequency-domain analysis · Eye blink / micro-expression anomalies · Multi-frame temporal consistency · GAN fingerprint matching</a:t>
            </a:r>
          </a:p>
        </p:txBody>
      </p:sp>
      <p:sp>
        <p:nvSpPr>
          <p:cNvPr id="22" name="TextBox 21"/>
          <p:cNvSpPr txBox="1"/>
          <p:nvPr/>
        </p:nvSpPr>
        <p:spPr>
          <a:xfrm>
            <a:off x="8183879" y="2697480"/>
            <a:ext cx="3611880" cy="804672"/>
          </a:xfrm>
          <a:prstGeom prst="rect">
            <a:avLst/>
          </a:prstGeom>
          <a:noFill/>
        </p:spPr>
        <p:txBody>
          <a:bodyPr wrap="square">
            <a:spAutoFit/>
          </a:bodyPr>
          <a:lstStyle/>
          <a:p>
            <a:pPr algn="l"/>
            <a:r>
              <a:rPr sz="900" b="0" i="0">
                <a:solidFill>
                  <a:srgbClr val="002266"/>
                </a:solidFill>
                <a:latin typeface="Calibri"/>
              </a:rPr>
              <a:t>Deepfake selfies, altered identity photos, synthetic profile images</a:t>
            </a:r>
          </a:p>
        </p:txBody>
      </p:sp>
      <p:sp>
        <p:nvSpPr>
          <p:cNvPr id="23" name="Rectangle 22"/>
          <p:cNvSpPr/>
          <p:nvPr/>
        </p:nvSpPr>
        <p:spPr>
          <a:xfrm>
            <a:off x="274320" y="3584448"/>
            <a:ext cx="11640312" cy="9144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3584448"/>
            <a:ext cx="73152" cy="914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657600"/>
            <a:ext cx="1417320" cy="804672"/>
          </a:xfrm>
          <a:prstGeom prst="rect">
            <a:avLst/>
          </a:prstGeom>
          <a:noFill/>
        </p:spPr>
        <p:txBody>
          <a:bodyPr wrap="square">
            <a:spAutoFit/>
          </a:bodyPr>
          <a:lstStyle/>
          <a:p>
            <a:pPr algn="ctr"/>
            <a:r>
              <a:rPr sz="1000" b="1" i="0">
                <a:solidFill>
                  <a:srgbClr val="002266"/>
                </a:solidFill>
                <a:latin typeface="Calibri"/>
              </a:rPr>
              <a:t>🔊
Audio Clone
Detector</a:t>
            </a:r>
          </a:p>
        </p:txBody>
      </p:sp>
      <p:sp>
        <p:nvSpPr>
          <p:cNvPr id="26" name="TextBox 25"/>
          <p:cNvSpPr txBox="1"/>
          <p:nvPr/>
        </p:nvSpPr>
        <p:spPr>
          <a:xfrm>
            <a:off x="1874519" y="3657600"/>
            <a:ext cx="1325880" cy="804672"/>
          </a:xfrm>
          <a:prstGeom prst="rect">
            <a:avLst/>
          </a:prstGeom>
          <a:noFill/>
        </p:spPr>
        <p:txBody>
          <a:bodyPr wrap="square">
            <a:spAutoFit/>
          </a:bodyPr>
          <a:lstStyle/>
          <a:p>
            <a:pPr algn="l"/>
            <a:r>
              <a:rPr sz="950" b="0" i="0">
                <a:solidFill>
                  <a:srgbClr val="333333"/>
                </a:solidFill>
                <a:latin typeface="Calibri"/>
              </a:rPr>
              <a:t>WAV, MP3, M4A</a:t>
            </a:r>
          </a:p>
        </p:txBody>
      </p:sp>
      <p:sp>
        <p:nvSpPr>
          <p:cNvPr id="27" name="TextBox 26"/>
          <p:cNvSpPr txBox="1"/>
          <p:nvPr/>
        </p:nvSpPr>
        <p:spPr>
          <a:xfrm>
            <a:off x="3246120" y="3657600"/>
            <a:ext cx="4892040" cy="804672"/>
          </a:xfrm>
          <a:prstGeom prst="rect">
            <a:avLst/>
          </a:prstGeom>
          <a:noFill/>
        </p:spPr>
        <p:txBody>
          <a:bodyPr wrap="square">
            <a:spAutoFit/>
          </a:bodyPr>
          <a:lstStyle/>
          <a:p>
            <a:pPr algn="l"/>
            <a:r>
              <a:rPr sz="850" b="0" i="0">
                <a:solidFill>
                  <a:srgbClr val="333333"/>
                </a:solidFill>
                <a:latin typeface="Calibri"/>
              </a:rPr>
              <a:t>Spectral envelope analysis · Prosody irregularities · Neural vocoder artefacts · Speaker embedding distance · Anti-spoofing ASV challenge models</a:t>
            </a:r>
          </a:p>
        </p:txBody>
      </p:sp>
      <p:sp>
        <p:nvSpPr>
          <p:cNvPr id="28" name="TextBox 27"/>
          <p:cNvSpPr txBox="1"/>
          <p:nvPr/>
        </p:nvSpPr>
        <p:spPr>
          <a:xfrm>
            <a:off x="8183879" y="3657600"/>
            <a:ext cx="3611880" cy="804672"/>
          </a:xfrm>
          <a:prstGeom prst="rect">
            <a:avLst/>
          </a:prstGeom>
          <a:noFill/>
        </p:spPr>
        <p:txBody>
          <a:bodyPr wrap="square">
            <a:spAutoFit/>
          </a:bodyPr>
          <a:lstStyle/>
          <a:p>
            <a:pPr algn="l"/>
            <a:r>
              <a:rPr sz="900" b="0" i="0">
                <a:solidFill>
                  <a:srgbClr val="002266"/>
                </a:solidFill>
                <a:latin typeface="Calibri"/>
              </a:rPr>
              <a:t>AI-cloned voice calls, synthetic audio in call-centre verification</a:t>
            </a:r>
          </a:p>
        </p:txBody>
      </p:sp>
      <p:sp>
        <p:nvSpPr>
          <p:cNvPr id="29" name="Rectangle 28"/>
          <p:cNvSpPr/>
          <p:nvPr/>
        </p:nvSpPr>
        <p:spPr>
          <a:xfrm>
            <a:off x="274320" y="4544568"/>
            <a:ext cx="11640312"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 y="4544568"/>
            <a:ext cx="73152" cy="914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617720"/>
            <a:ext cx="1417320" cy="804672"/>
          </a:xfrm>
          <a:prstGeom prst="rect">
            <a:avLst/>
          </a:prstGeom>
          <a:noFill/>
        </p:spPr>
        <p:txBody>
          <a:bodyPr wrap="square">
            <a:spAutoFit/>
          </a:bodyPr>
          <a:lstStyle/>
          <a:p>
            <a:pPr algn="ctr"/>
            <a:r>
              <a:rPr sz="1000" b="1" i="0">
                <a:solidFill>
                  <a:srgbClr val="002266"/>
                </a:solidFill>
                <a:latin typeface="Calibri"/>
              </a:rPr>
              <a:t>📝
Text / Profile
AI Classifier</a:t>
            </a:r>
          </a:p>
        </p:txBody>
      </p:sp>
      <p:sp>
        <p:nvSpPr>
          <p:cNvPr id="32" name="TextBox 31"/>
          <p:cNvSpPr txBox="1"/>
          <p:nvPr/>
        </p:nvSpPr>
        <p:spPr>
          <a:xfrm>
            <a:off x="1874519" y="4617720"/>
            <a:ext cx="1325880" cy="804672"/>
          </a:xfrm>
          <a:prstGeom prst="rect">
            <a:avLst/>
          </a:prstGeom>
          <a:noFill/>
        </p:spPr>
        <p:txBody>
          <a:bodyPr wrap="square">
            <a:spAutoFit/>
          </a:bodyPr>
          <a:lstStyle/>
          <a:p>
            <a:pPr algn="l"/>
            <a:r>
              <a:rPr sz="950" b="0" i="0">
                <a:solidFill>
                  <a:srgbClr val="333333"/>
                </a:solidFill>
                <a:latin typeface="Calibri"/>
              </a:rPr>
              <a:t>Plain text, JSON</a:t>
            </a:r>
          </a:p>
        </p:txBody>
      </p:sp>
      <p:sp>
        <p:nvSpPr>
          <p:cNvPr id="33" name="TextBox 32"/>
          <p:cNvSpPr txBox="1"/>
          <p:nvPr/>
        </p:nvSpPr>
        <p:spPr>
          <a:xfrm>
            <a:off x="3246120" y="4617720"/>
            <a:ext cx="4892040" cy="804672"/>
          </a:xfrm>
          <a:prstGeom prst="rect">
            <a:avLst/>
          </a:prstGeom>
          <a:noFill/>
        </p:spPr>
        <p:txBody>
          <a:bodyPr wrap="square">
            <a:spAutoFit/>
          </a:bodyPr>
          <a:lstStyle/>
          <a:p>
            <a:pPr algn="l"/>
            <a:r>
              <a:rPr sz="850" b="0" i="0">
                <a:solidFill>
                  <a:srgbClr val="333333"/>
                </a:solidFill>
                <a:latin typeface="Calibri"/>
              </a:rPr>
              <a:t>Perplexity scoring (GPT-2 / LLaMA) · Burstiness analysis · Stylometric fingerprinting · Coherence anomaly detection · Named-entity consistency check</a:t>
            </a:r>
          </a:p>
        </p:txBody>
      </p:sp>
      <p:sp>
        <p:nvSpPr>
          <p:cNvPr id="34" name="TextBox 33"/>
          <p:cNvSpPr txBox="1"/>
          <p:nvPr/>
        </p:nvSpPr>
        <p:spPr>
          <a:xfrm>
            <a:off x="8183879" y="4617720"/>
            <a:ext cx="3611880" cy="804672"/>
          </a:xfrm>
          <a:prstGeom prst="rect">
            <a:avLst/>
          </a:prstGeom>
          <a:noFill/>
        </p:spPr>
        <p:txBody>
          <a:bodyPr wrap="square">
            <a:spAutoFit/>
          </a:bodyPr>
          <a:lstStyle/>
          <a:p>
            <a:pPr algn="l"/>
            <a:r>
              <a:rPr sz="900" b="0" i="0">
                <a:solidFill>
                  <a:srgbClr val="002266"/>
                </a:solidFill>
                <a:latin typeface="Calibri"/>
              </a:rPr>
              <a:t>LLM-generated personal histories, business narratives, financial descriptions</a:t>
            </a:r>
          </a:p>
        </p:txBody>
      </p:sp>
      <p:sp>
        <p:nvSpPr>
          <p:cNvPr id="35" name="Rectangle 34"/>
          <p:cNvSpPr/>
          <p:nvPr/>
        </p:nvSpPr>
        <p:spPr>
          <a:xfrm>
            <a:off x="274320" y="5504688"/>
            <a:ext cx="11640312" cy="9144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 y="5504688"/>
            <a:ext cx="73152" cy="914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5577840"/>
            <a:ext cx="1417320" cy="804672"/>
          </a:xfrm>
          <a:prstGeom prst="rect">
            <a:avLst/>
          </a:prstGeom>
          <a:noFill/>
        </p:spPr>
        <p:txBody>
          <a:bodyPr wrap="square">
            <a:spAutoFit/>
          </a:bodyPr>
          <a:lstStyle/>
          <a:p>
            <a:pPr algn="ctr"/>
            <a:r>
              <a:rPr sz="1000" b="1" i="0">
                <a:solidFill>
                  <a:srgbClr val="002266"/>
                </a:solidFill>
                <a:latin typeface="Calibri"/>
              </a:rPr>
              <a:t>📡
Behavioural &amp;
Metadata</a:t>
            </a:r>
          </a:p>
        </p:txBody>
      </p:sp>
      <p:sp>
        <p:nvSpPr>
          <p:cNvPr id="38" name="TextBox 37"/>
          <p:cNvSpPr txBox="1"/>
          <p:nvPr/>
        </p:nvSpPr>
        <p:spPr>
          <a:xfrm>
            <a:off x="1874519" y="5577840"/>
            <a:ext cx="1325880" cy="804672"/>
          </a:xfrm>
          <a:prstGeom prst="rect">
            <a:avLst/>
          </a:prstGeom>
          <a:noFill/>
        </p:spPr>
        <p:txBody>
          <a:bodyPr wrap="square">
            <a:spAutoFit/>
          </a:bodyPr>
          <a:lstStyle/>
          <a:p>
            <a:pPr algn="l"/>
            <a:r>
              <a:rPr sz="950" b="0" i="0">
                <a:solidFill>
                  <a:srgbClr val="333333"/>
                </a:solidFill>
                <a:latin typeface="Calibri"/>
              </a:rPr>
              <a:t>Session / device telemetry</a:t>
            </a:r>
          </a:p>
        </p:txBody>
      </p:sp>
      <p:sp>
        <p:nvSpPr>
          <p:cNvPr id="39" name="TextBox 38"/>
          <p:cNvSpPr txBox="1"/>
          <p:nvPr/>
        </p:nvSpPr>
        <p:spPr>
          <a:xfrm>
            <a:off x="3246120" y="5577840"/>
            <a:ext cx="4892040" cy="804672"/>
          </a:xfrm>
          <a:prstGeom prst="rect">
            <a:avLst/>
          </a:prstGeom>
          <a:noFill/>
        </p:spPr>
        <p:txBody>
          <a:bodyPr wrap="square">
            <a:spAutoFit/>
          </a:bodyPr>
          <a:lstStyle/>
          <a:p>
            <a:pPr algn="l"/>
            <a:r>
              <a:rPr sz="850" b="0" i="0">
                <a:solidFill>
                  <a:srgbClr val="333333"/>
                </a:solidFill>
                <a:latin typeface="Calibri"/>
              </a:rPr>
              <a:t>Device fingerprint vs document geography · Typing cadence analysis · Session timing anomalies · IP geolocation vs submitted address · Browser fingerprint consistency</a:t>
            </a:r>
          </a:p>
        </p:txBody>
      </p:sp>
      <p:sp>
        <p:nvSpPr>
          <p:cNvPr id="40" name="TextBox 39"/>
          <p:cNvSpPr txBox="1"/>
          <p:nvPr/>
        </p:nvSpPr>
        <p:spPr>
          <a:xfrm>
            <a:off x="8183879" y="5577840"/>
            <a:ext cx="3611880" cy="804672"/>
          </a:xfrm>
          <a:prstGeom prst="rect">
            <a:avLst/>
          </a:prstGeom>
          <a:noFill/>
        </p:spPr>
        <p:txBody>
          <a:bodyPr wrap="square">
            <a:spAutoFit/>
          </a:bodyPr>
          <a:lstStyle/>
          <a:p>
            <a:pPr algn="l"/>
            <a:r>
              <a:rPr sz="900" b="0" i="0">
                <a:solidFill>
                  <a:srgbClr val="002266"/>
                </a:solidFill>
                <a:latin typeface="Calibri"/>
              </a:rPr>
              <a:t>Mismatched location signals, scripted bot sessions, credential-stuffing patterns</a:t>
            </a:r>
          </a:p>
        </p:txBody>
      </p:sp>
      <p:sp>
        <p:nvSpPr>
          <p:cNvPr id="41" name="Rectangle 40"/>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Built on Citi's Technology Ecosystem</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TrustGuard leverages existing Citi platforms — accelerating delivery and adoption</a:t>
            </a:r>
          </a:p>
        </p:txBody>
      </p:sp>
      <p:sp>
        <p:nvSpPr>
          <p:cNvPr id="6" name="Rectangle 5"/>
          <p:cNvSpPr/>
          <p:nvPr/>
        </p:nvSpPr>
        <p:spPr>
          <a:xfrm>
            <a:off x="365760" y="1280160"/>
            <a:ext cx="5623560" cy="16002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80160"/>
            <a:ext cx="5623560" cy="4114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35024"/>
            <a:ext cx="5303520" cy="320040"/>
          </a:xfrm>
          <a:prstGeom prst="rect">
            <a:avLst/>
          </a:prstGeom>
          <a:noFill/>
        </p:spPr>
        <p:txBody>
          <a:bodyPr wrap="square">
            <a:spAutoFit/>
          </a:bodyPr>
          <a:lstStyle/>
          <a:p>
            <a:pPr algn="l"/>
            <a:r>
              <a:rPr sz="1400" b="1" i="0">
                <a:solidFill>
                  <a:srgbClr val="FFFFFF"/>
                </a:solidFill>
                <a:latin typeface="Calibri"/>
              </a:rPr>
              <a:t>Helix</a:t>
            </a:r>
          </a:p>
        </p:txBody>
      </p:sp>
      <p:sp>
        <p:nvSpPr>
          <p:cNvPr id="9" name="TextBox 8"/>
          <p:cNvSpPr txBox="1"/>
          <p:nvPr/>
        </p:nvSpPr>
        <p:spPr>
          <a:xfrm>
            <a:off x="502920" y="1783080"/>
            <a:ext cx="5303520" cy="1005840"/>
          </a:xfrm>
          <a:prstGeom prst="rect">
            <a:avLst/>
          </a:prstGeom>
          <a:noFill/>
        </p:spPr>
        <p:txBody>
          <a:bodyPr wrap="square">
            <a:spAutoFit/>
          </a:bodyPr>
          <a:lstStyle/>
          <a:p>
            <a:pPr algn="l"/>
            <a:r>
              <a:rPr sz="1050" b="0" i="0">
                <a:solidFill>
                  <a:srgbClr val="333333"/>
                </a:solidFill>
                <a:latin typeface="Calibri"/>
              </a:rPr>
              <a:t>Citi's internal platform for deploying &amp; orchestrating AI/ML models. TrustGuard's detection models are packaged as Helix-compatible services for governed, auditable inference within Citi's security perimeter.</a:t>
            </a:r>
          </a:p>
        </p:txBody>
      </p:sp>
      <p:sp>
        <p:nvSpPr>
          <p:cNvPr id="10" name="Rectangle 9"/>
          <p:cNvSpPr/>
          <p:nvPr/>
        </p:nvSpPr>
        <p:spPr>
          <a:xfrm>
            <a:off x="6263640" y="1280160"/>
            <a:ext cx="5623560" cy="16002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280160"/>
            <a:ext cx="5623560" cy="4114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35024"/>
            <a:ext cx="5303520" cy="320040"/>
          </a:xfrm>
          <a:prstGeom prst="rect">
            <a:avLst/>
          </a:prstGeom>
          <a:noFill/>
        </p:spPr>
        <p:txBody>
          <a:bodyPr wrap="square">
            <a:spAutoFit/>
          </a:bodyPr>
          <a:lstStyle/>
          <a:p>
            <a:pPr algn="l"/>
            <a:r>
              <a:rPr sz="1400" b="1" i="0">
                <a:solidFill>
                  <a:srgbClr val="FFFFFF"/>
                </a:solidFill>
                <a:latin typeface="Calibri"/>
              </a:rPr>
              <a:t>Citi Stylus</a:t>
            </a:r>
          </a:p>
        </p:txBody>
      </p:sp>
      <p:sp>
        <p:nvSpPr>
          <p:cNvPr id="13" name="TextBox 12"/>
          <p:cNvSpPr txBox="1"/>
          <p:nvPr/>
        </p:nvSpPr>
        <p:spPr>
          <a:xfrm>
            <a:off x="6400800" y="1783080"/>
            <a:ext cx="5303520" cy="1005840"/>
          </a:xfrm>
          <a:prstGeom prst="rect">
            <a:avLst/>
          </a:prstGeom>
          <a:noFill/>
        </p:spPr>
        <p:txBody>
          <a:bodyPr wrap="square">
            <a:spAutoFit/>
          </a:bodyPr>
          <a:lstStyle/>
          <a:p>
            <a:pPr algn="l"/>
            <a:r>
              <a:rPr sz="1050" b="0" i="0">
                <a:solidFill>
                  <a:srgbClr val="333333"/>
                </a:solidFill>
                <a:latin typeface="Calibri"/>
              </a:rPr>
              <a:t>Existing document intelligence pipeline. TrustGuard's Document Forensics Engine slots directly after Stylus extracts text — sharing the same document ingestion flow without duplicating infrastructure.</a:t>
            </a:r>
          </a:p>
        </p:txBody>
      </p:sp>
      <p:sp>
        <p:nvSpPr>
          <p:cNvPr id="14" name="Rectangle 13"/>
          <p:cNvSpPr/>
          <p:nvPr/>
        </p:nvSpPr>
        <p:spPr>
          <a:xfrm>
            <a:off x="365760" y="3063239"/>
            <a:ext cx="5623560" cy="16002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063239"/>
            <a:ext cx="5623560" cy="4114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118103"/>
            <a:ext cx="5303520" cy="320040"/>
          </a:xfrm>
          <a:prstGeom prst="rect">
            <a:avLst/>
          </a:prstGeom>
          <a:noFill/>
        </p:spPr>
        <p:txBody>
          <a:bodyPr wrap="square">
            <a:spAutoFit/>
          </a:bodyPr>
          <a:lstStyle/>
          <a:p>
            <a:pPr algn="l"/>
            <a:r>
              <a:rPr sz="1400" b="1" i="0">
                <a:solidFill>
                  <a:srgbClr val="FFFFFF"/>
                </a:solidFill>
                <a:latin typeface="Calibri"/>
              </a:rPr>
              <a:t>CitiDirect® API</a:t>
            </a:r>
          </a:p>
        </p:txBody>
      </p:sp>
      <p:sp>
        <p:nvSpPr>
          <p:cNvPr id="17" name="TextBox 16"/>
          <p:cNvSpPr txBox="1"/>
          <p:nvPr/>
        </p:nvSpPr>
        <p:spPr>
          <a:xfrm>
            <a:off x="502920" y="3566159"/>
            <a:ext cx="5303520" cy="1005840"/>
          </a:xfrm>
          <a:prstGeom prst="rect">
            <a:avLst/>
          </a:prstGeom>
          <a:noFill/>
        </p:spPr>
        <p:txBody>
          <a:bodyPr wrap="square">
            <a:spAutoFit/>
          </a:bodyPr>
          <a:lstStyle/>
          <a:p>
            <a:pPr algn="l"/>
            <a:r>
              <a:rPr sz="1050" b="0" i="0">
                <a:solidFill>
                  <a:srgbClr val="333333"/>
                </a:solidFill>
                <a:latin typeface="Calibri"/>
              </a:rPr>
              <a:t>The single client-facing portal handling 90% of account requests digitally. TrustGuard intercepts document uploads and video/audio submissions via CitiDirect's API gateway before they reach human reviewers.</a:t>
            </a:r>
          </a:p>
        </p:txBody>
      </p:sp>
      <p:sp>
        <p:nvSpPr>
          <p:cNvPr id="18" name="Rectangle 17"/>
          <p:cNvSpPr/>
          <p:nvPr/>
        </p:nvSpPr>
        <p:spPr>
          <a:xfrm>
            <a:off x="6263640" y="3063239"/>
            <a:ext cx="5623560" cy="16002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063239"/>
            <a:ext cx="5623560" cy="41148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118103"/>
            <a:ext cx="5303520" cy="320040"/>
          </a:xfrm>
          <a:prstGeom prst="rect">
            <a:avLst/>
          </a:prstGeom>
          <a:noFill/>
        </p:spPr>
        <p:txBody>
          <a:bodyPr wrap="square">
            <a:spAutoFit/>
          </a:bodyPr>
          <a:lstStyle/>
          <a:p>
            <a:pPr algn="l"/>
            <a:r>
              <a:rPr sz="1400" b="1" i="0">
                <a:solidFill>
                  <a:srgbClr val="FFFFFF"/>
                </a:solidFill>
                <a:latin typeface="Calibri"/>
              </a:rPr>
              <a:t>CitiKYC Repository</a:t>
            </a:r>
          </a:p>
        </p:txBody>
      </p:sp>
      <p:sp>
        <p:nvSpPr>
          <p:cNvPr id="21" name="TextBox 20"/>
          <p:cNvSpPr txBox="1"/>
          <p:nvPr/>
        </p:nvSpPr>
        <p:spPr>
          <a:xfrm>
            <a:off x="6400800" y="3566159"/>
            <a:ext cx="5303520" cy="1005840"/>
          </a:xfrm>
          <a:prstGeom prst="rect">
            <a:avLst/>
          </a:prstGeom>
          <a:noFill/>
        </p:spPr>
        <p:txBody>
          <a:bodyPr wrap="square">
            <a:spAutoFit/>
          </a:bodyPr>
          <a:lstStyle/>
          <a:p>
            <a:pPr algn="l"/>
            <a:r>
              <a:rPr sz="1050" b="0" i="0">
                <a:solidFill>
                  <a:srgbClr val="333333"/>
                </a:solidFill>
                <a:latin typeface="Calibri"/>
              </a:rPr>
              <a:t>Citi's enterprise KYC data store. Risk scores, artefact flags, and model explanations written back to CitiKYC for every submission — creating a full audit trail and enabling regulatory reporting.</a:t>
            </a:r>
          </a:p>
        </p:txBody>
      </p:sp>
      <p:sp>
        <p:nvSpPr>
          <p:cNvPr id="22" name="Rectangle 21"/>
          <p:cNvSpPr/>
          <p:nvPr/>
        </p:nvSpPr>
        <p:spPr>
          <a:xfrm>
            <a:off x="365760" y="4846320"/>
            <a:ext cx="5623560" cy="16002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846320"/>
            <a:ext cx="5623560" cy="411480"/>
          </a:xfrm>
          <a:prstGeom prst="rect">
            <a:avLst/>
          </a:prstGeom>
          <a:solidFill>
            <a:srgbClr val="007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901183"/>
            <a:ext cx="5303520" cy="320040"/>
          </a:xfrm>
          <a:prstGeom prst="rect">
            <a:avLst/>
          </a:prstGeom>
          <a:noFill/>
        </p:spPr>
        <p:txBody>
          <a:bodyPr wrap="square">
            <a:spAutoFit/>
          </a:bodyPr>
          <a:lstStyle/>
          <a:p>
            <a:pPr algn="l"/>
            <a:r>
              <a:rPr sz="1400" b="1" i="0">
                <a:solidFill>
                  <a:srgbClr val="FFFFFF"/>
                </a:solidFill>
                <a:latin typeface="Calibri"/>
              </a:rPr>
              <a:t>Google Cloud AI</a:t>
            </a:r>
          </a:p>
        </p:txBody>
      </p:sp>
      <p:sp>
        <p:nvSpPr>
          <p:cNvPr id="25" name="TextBox 24"/>
          <p:cNvSpPr txBox="1"/>
          <p:nvPr/>
        </p:nvSpPr>
        <p:spPr>
          <a:xfrm>
            <a:off x="502920" y="5349240"/>
            <a:ext cx="5303520" cy="1005840"/>
          </a:xfrm>
          <a:prstGeom prst="rect">
            <a:avLst/>
          </a:prstGeom>
          <a:noFill/>
        </p:spPr>
        <p:txBody>
          <a:bodyPr wrap="square">
            <a:spAutoFit/>
          </a:bodyPr>
          <a:lstStyle/>
          <a:p>
            <a:pPr algn="l"/>
            <a:r>
              <a:rPr sz="1050" b="0" i="0">
                <a:solidFill>
                  <a:srgbClr val="333333"/>
                </a:solidFill>
                <a:latin typeface="Calibri"/>
              </a:rPr>
              <a:t>Multi-year strategic partnership (Oct 2024) provides managed ML inference, GPU compute for real-time deepfake detection, and scalable API hosting — without building bespoke infrastructure.</a:t>
            </a:r>
          </a:p>
        </p:txBody>
      </p:sp>
      <p:sp>
        <p:nvSpPr>
          <p:cNvPr id="26" name="Rectangle 25"/>
          <p:cNvSpPr/>
          <p:nvPr/>
        </p:nvSpPr>
        <p:spPr>
          <a:xfrm>
            <a:off x="6263640" y="4846320"/>
            <a:ext cx="5623560" cy="16002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4846320"/>
            <a:ext cx="5623560" cy="4114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4901183"/>
            <a:ext cx="5303520" cy="320040"/>
          </a:xfrm>
          <a:prstGeom prst="rect">
            <a:avLst/>
          </a:prstGeom>
          <a:noFill/>
        </p:spPr>
        <p:txBody>
          <a:bodyPr wrap="square">
            <a:spAutoFit/>
          </a:bodyPr>
          <a:lstStyle/>
          <a:p>
            <a:pPr algn="l"/>
            <a:r>
              <a:rPr sz="1400" b="1" i="0">
                <a:solidFill>
                  <a:srgbClr val="FFFFFF"/>
                </a:solidFill>
                <a:latin typeface="Calibri"/>
              </a:rPr>
              <a:t>SAR Pipeline</a:t>
            </a:r>
          </a:p>
        </p:txBody>
      </p:sp>
      <p:sp>
        <p:nvSpPr>
          <p:cNvPr id="29" name="TextBox 28"/>
          <p:cNvSpPr txBox="1"/>
          <p:nvPr/>
        </p:nvSpPr>
        <p:spPr>
          <a:xfrm>
            <a:off x="6400800" y="5349240"/>
            <a:ext cx="5303520" cy="1005840"/>
          </a:xfrm>
          <a:prstGeom prst="rect">
            <a:avLst/>
          </a:prstGeom>
          <a:noFill/>
        </p:spPr>
        <p:txBody>
          <a:bodyPr wrap="square">
            <a:spAutoFit/>
          </a:bodyPr>
          <a:lstStyle/>
          <a:p>
            <a:pPr algn="l"/>
            <a:r>
              <a:rPr sz="1050" b="0" i="0">
                <a:solidFill>
                  <a:srgbClr val="333333"/>
                </a:solidFill>
                <a:latin typeface="Calibri"/>
              </a:rPr>
              <a:t>Automatic Suspicious Activity Report tagging. Cases exceeding risk threshold trigger SAR creation with FIN-2024-DEEPFAKEFRAUD code in field 2 — meeting FinCEN's November 2024 regulatory mandate.</a:t>
            </a:r>
          </a:p>
        </p:txBody>
      </p:sp>
      <p:sp>
        <p:nvSpPr>
          <p:cNvPr id="30" name="Rectangle 29"/>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Build vs. Buy Analysis</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Why Citi should build TrustGuard in-house on Google Cloud + open-source models</a:t>
            </a:r>
          </a:p>
        </p:txBody>
      </p:sp>
      <p:sp>
        <p:nvSpPr>
          <p:cNvPr id="6" name="Rectangle 5"/>
          <p:cNvSpPr/>
          <p:nvPr/>
        </p:nvSpPr>
        <p:spPr>
          <a:xfrm>
            <a:off x="274320" y="1188720"/>
            <a:ext cx="5669280" cy="384048"/>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35040" y="1188720"/>
            <a:ext cx="5879592" cy="38404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34440"/>
            <a:ext cx="5486400" cy="292608"/>
          </a:xfrm>
          <a:prstGeom prst="rect">
            <a:avLst/>
          </a:prstGeom>
          <a:noFill/>
        </p:spPr>
        <p:txBody>
          <a:bodyPr wrap="square">
            <a:spAutoFit/>
          </a:bodyPr>
          <a:lstStyle/>
          <a:p>
            <a:pPr algn="ctr"/>
            <a:r>
              <a:rPr sz="1300" b="1" i="0">
                <a:solidFill>
                  <a:srgbClr val="FFFFFF"/>
                </a:solidFill>
                <a:latin typeface="Calibri"/>
              </a:rPr>
              <a:t>✓  BUILD (Recommended)</a:t>
            </a:r>
          </a:p>
        </p:txBody>
      </p:sp>
      <p:sp>
        <p:nvSpPr>
          <p:cNvPr id="9" name="TextBox 8"/>
          <p:cNvSpPr txBox="1"/>
          <p:nvPr/>
        </p:nvSpPr>
        <p:spPr>
          <a:xfrm>
            <a:off x="6126480" y="1234440"/>
            <a:ext cx="5669280" cy="292608"/>
          </a:xfrm>
          <a:prstGeom prst="rect">
            <a:avLst/>
          </a:prstGeom>
          <a:noFill/>
        </p:spPr>
        <p:txBody>
          <a:bodyPr wrap="square">
            <a:spAutoFit/>
          </a:bodyPr>
          <a:lstStyle/>
          <a:p>
            <a:pPr algn="ctr"/>
            <a:r>
              <a:rPr sz="1300" b="1" i="0">
                <a:solidFill>
                  <a:srgbClr val="FFFFFF"/>
                </a:solidFill>
                <a:latin typeface="Calibri"/>
              </a:rPr>
              <a:t>✗  BUY (Vendor)</a:t>
            </a:r>
          </a:p>
        </p:txBody>
      </p:sp>
      <p:sp>
        <p:nvSpPr>
          <p:cNvPr id="10" name="Rectangle 9"/>
          <p:cNvSpPr/>
          <p:nvPr/>
        </p:nvSpPr>
        <p:spPr>
          <a:xfrm>
            <a:off x="274320" y="1664208"/>
            <a:ext cx="11640312" cy="74980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709928"/>
            <a:ext cx="1600200" cy="640080"/>
          </a:xfrm>
          <a:prstGeom prst="rect">
            <a:avLst/>
          </a:prstGeom>
          <a:noFill/>
        </p:spPr>
        <p:txBody>
          <a:bodyPr wrap="square">
            <a:spAutoFit/>
          </a:bodyPr>
          <a:lstStyle/>
          <a:p>
            <a:pPr algn="l"/>
            <a:r>
              <a:rPr sz="1000" b="1" i="0">
                <a:solidFill>
                  <a:srgbClr val="002266"/>
                </a:solidFill>
                <a:latin typeface="Calibri"/>
              </a:rPr>
              <a:t>Data Privacy &amp; Sovereignty</a:t>
            </a:r>
          </a:p>
        </p:txBody>
      </p:sp>
      <p:sp>
        <p:nvSpPr>
          <p:cNvPr id="12" name="TextBox 11"/>
          <p:cNvSpPr txBox="1"/>
          <p:nvPr/>
        </p:nvSpPr>
        <p:spPr>
          <a:xfrm>
            <a:off x="2011680" y="1709928"/>
            <a:ext cx="3886200" cy="640080"/>
          </a:xfrm>
          <a:prstGeom prst="rect">
            <a:avLst/>
          </a:prstGeom>
          <a:noFill/>
        </p:spPr>
        <p:txBody>
          <a:bodyPr wrap="square">
            <a:spAutoFit/>
          </a:bodyPr>
          <a:lstStyle/>
          <a:p>
            <a:pPr algn="l"/>
            <a:r>
              <a:rPr sz="1000" b="0" i="0">
                <a:solidFill>
                  <a:srgbClr val="333333"/>
                </a:solidFill>
                <a:latin typeface="Calibri"/>
              </a:rPr>
              <a:t>All KYC data stays within Citi's Google Cloud perimeter. Zero client data leaves Citi's control.</a:t>
            </a:r>
          </a:p>
        </p:txBody>
      </p:sp>
      <p:sp>
        <p:nvSpPr>
          <p:cNvPr id="13" name="TextBox 12"/>
          <p:cNvSpPr txBox="1"/>
          <p:nvPr/>
        </p:nvSpPr>
        <p:spPr>
          <a:xfrm>
            <a:off x="6035040" y="1709928"/>
            <a:ext cx="3886200" cy="640080"/>
          </a:xfrm>
          <a:prstGeom prst="rect">
            <a:avLst/>
          </a:prstGeom>
          <a:noFill/>
        </p:spPr>
        <p:txBody>
          <a:bodyPr wrap="square">
            <a:spAutoFit/>
          </a:bodyPr>
          <a:lstStyle/>
          <a:p>
            <a:pPr algn="l"/>
            <a:r>
              <a:rPr sz="1000" b="0" i="0">
                <a:solidFill>
                  <a:srgbClr val="333333"/>
                </a:solidFill>
                <a:latin typeface="Calibri"/>
              </a:rPr>
              <a:t>Client documents sent to external vendor servers. Breach of data sovereignty &amp; client confidentiality.</a:t>
            </a:r>
          </a:p>
        </p:txBody>
      </p:sp>
      <p:sp>
        <p:nvSpPr>
          <p:cNvPr id="14" name="Rectangle 13"/>
          <p:cNvSpPr/>
          <p:nvPr/>
        </p:nvSpPr>
        <p:spPr>
          <a:xfrm>
            <a:off x="5943600" y="1664208"/>
            <a:ext cx="73152" cy="749808"/>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468880"/>
            <a:ext cx="11640312"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2514600"/>
            <a:ext cx="1600200" cy="640080"/>
          </a:xfrm>
          <a:prstGeom prst="rect">
            <a:avLst/>
          </a:prstGeom>
          <a:noFill/>
        </p:spPr>
        <p:txBody>
          <a:bodyPr wrap="square">
            <a:spAutoFit/>
          </a:bodyPr>
          <a:lstStyle/>
          <a:p>
            <a:pPr algn="l"/>
            <a:r>
              <a:rPr sz="1000" b="1" i="0">
                <a:solidFill>
                  <a:srgbClr val="002266"/>
                </a:solidFill>
                <a:latin typeface="Calibri"/>
              </a:rPr>
              <a:t>Regulatory Explainability</a:t>
            </a:r>
          </a:p>
        </p:txBody>
      </p:sp>
      <p:sp>
        <p:nvSpPr>
          <p:cNvPr id="17" name="TextBox 16"/>
          <p:cNvSpPr txBox="1"/>
          <p:nvPr/>
        </p:nvSpPr>
        <p:spPr>
          <a:xfrm>
            <a:off x="2011680" y="2514600"/>
            <a:ext cx="3886200" cy="640080"/>
          </a:xfrm>
          <a:prstGeom prst="rect">
            <a:avLst/>
          </a:prstGeom>
          <a:noFill/>
        </p:spPr>
        <p:txBody>
          <a:bodyPr wrap="square">
            <a:spAutoFit/>
          </a:bodyPr>
          <a:lstStyle/>
          <a:p>
            <a:pPr algn="l"/>
            <a:r>
              <a:rPr sz="1000" b="0" i="0">
                <a:solidFill>
                  <a:srgbClr val="333333"/>
                </a:solidFill>
                <a:latin typeface="Calibri"/>
              </a:rPr>
              <a:t>Full transparency into every model decision. Artefact-level explanations ready for regulator audit.</a:t>
            </a:r>
          </a:p>
        </p:txBody>
      </p:sp>
      <p:sp>
        <p:nvSpPr>
          <p:cNvPr id="18" name="TextBox 17"/>
          <p:cNvSpPr txBox="1"/>
          <p:nvPr/>
        </p:nvSpPr>
        <p:spPr>
          <a:xfrm>
            <a:off x="6035040" y="2514600"/>
            <a:ext cx="3886200" cy="640080"/>
          </a:xfrm>
          <a:prstGeom prst="rect">
            <a:avLst/>
          </a:prstGeom>
          <a:noFill/>
        </p:spPr>
        <p:txBody>
          <a:bodyPr wrap="square">
            <a:spAutoFit/>
          </a:bodyPr>
          <a:lstStyle/>
          <a:p>
            <a:pPr algn="l"/>
            <a:r>
              <a:rPr sz="1000" b="0" i="0">
                <a:solidFill>
                  <a:srgbClr val="333333"/>
                </a:solidFill>
                <a:latin typeface="Calibri"/>
              </a:rPr>
              <a:t>Black-box vendor model. Cannot explain decisions to FinCEN / FCA / EU AI Act auditors.</a:t>
            </a:r>
          </a:p>
        </p:txBody>
      </p:sp>
      <p:sp>
        <p:nvSpPr>
          <p:cNvPr id="19" name="Rectangle 18"/>
          <p:cNvSpPr/>
          <p:nvPr/>
        </p:nvSpPr>
        <p:spPr>
          <a:xfrm>
            <a:off x="5943600" y="2468880"/>
            <a:ext cx="73152" cy="749808"/>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3273552"/>
            <a:ext cx="11640312" cy="74980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319272"/>
            <a:ext cx="1600200" cy="640080"/>
          </a:xfrm>
          <a:prstGeom prst="rect">
            <a:avLst/>
          </a:prstGeom>
          <a:noFill/>
        </p:spPr>
        <p:txBody>
          <a:bodyPr wrap="square">
            <a:spAutoFit/>
          </a:bodyPr>
          <a:lstStyle/>
          <a:p>
            <a:pPr algn="l"/>
            <a:r>
              <a:rPr sz="1000" b="1" i="0">
                <a:solidFill>
                  <a:srgbClr val="002266"/>
                </a:solidFill>
                <a:latin typeface="Calibri"/>
              </a:rPr>
              <a:t>Cost at Scale</a:t>
            </a:r>
          </a:p>
        </p:txBody>
      </p:sp>
      <p:sp>
        <p:nvSpPr>
          <p:cNvPr id="22" name="TextBox 21"/>
          <p:cNvSpPr txBox="1"/>
          <p:nvPr/>
        </p:nvSpPr>
        <p:spPr>
          <a:xfrm>
            <a:off x="2011680" y="3319272"/>
            <a:ext cx="3886200" cy="640080"/>
          </a:xfrm>
          <a:prstGeom prst="rect">
            <a:avLst/>
          </a:prstGeom>
          <a:noFill/>
        </p:spPr>
        <p:txBody>
          <a:bodyPr wrap="square">
            <a:spAutoFit/>
          </a:bodyPr>
          <a:lstStyle/>
          <a:p>
            <a:pPr algn="l"/>
            <a:r>
              <a:rPr sz="1000" b="0" i="0">
                <a:solidFill>
                  <a:srgbClr val="333333"/>
                </a:solidFill>
                <a:latin typeface="Calibri"/>
              </a:rPr>
              <a:t>Open-source model inference on Google Cloud ~$0.002/document. TCO ~$1.2M/yr at Citi's volume.</a:t>
            </a:r>
          </a:p>
        </p:txBody>
      </p:sp>
      <p:sp>
        <p:nvSpPr>
          <p:cNvPr id="23" name="TextBox 22"/>
          <p:cNvSpPr txBox="1"/>
          <p:nvPr/>
        </p:nvSpPr>
        <p:spPr>
          <a:xfrm>
            <a:off x="6035040" y="3319272"/>
            <a:ext cx="3886200" cy="640080"/>
          </a:xfrm>
          <a:prstGeom prst="rect">
            <a:avLst/>
          </a:prstGeom>
          <a:noFill/>
        </p:spPr>
        <p:txBody>
          <a:bodyPr wrap="square">
            <a:spAutoFit/>
          </a:bodyPr>
          <a:lstStyle/>
          <a:p>
            <a:pPr algn="l"/>
            <a:r>
              <a:rPr sz="1000" b="0" i="0">
                <a:solidFill>
                  <a:srgbClr val="333333"/>
                </a:solidFill>
                <a:latin typeface="Calibri"/>
              </a:rPr>
              <a:t>Vendor licensing: $3–8M/yr. Per-API-call pricing scales prohibitively with Citi's 90% digital volume.</a:t>
            </a:r>
          </a:p>
        </p:txBody>
      </p:sp>
      <p:sp>
        <p:nvSpPr>
          <p:cNvPr id="24" name="Rectangle 23"/>
          <p:cNvSpPr/>
          <p:nvPr/>
        </p:nvSpPr>
        <p:spPr>
          <a:xfrm>
            <a:off x="5943600" y="3273552"/>
            <a:ext cx="73152" cy="749808"/>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4078224"/>
            <a:ext cx="11640312"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123944"/>
            <a:ext cx="1600200" cy="640080"/>
          </a:xfrm>
          <a:prstGeom prst="rect">
            <a:avLst/>
          </a:prstGeom>
          <a:noFill/>
        </p:spPr>
        <p:txBody>
          <a:bodyPr wrap="square">
            <a:spAutoFit/>
          </a:bodyPr>
          <a:lstStyle/>
          <a:p>
            <a:pPr algn="l"/>
            <a:r>
              <a:rPr sz="1000" b="1" i="0">
                <a:solidFill>
                  <a:srgbClr val="002266"/>
                </a:solidFill>
                <a:latin typeface="Calibri"/>
              </a:rPr>
              <a:t>Customisation</a:t>
            </a:r>
          </a:p>
        </p:txBody>
      </p:sp>
      <p:sp>
        <p:nvSpPr>
          <p:cNvPr id="27" name="TextBox 26"/>
          <p:cNvSpPr txBox="1"/>
          <p:nvPr/>
        </p:nvSpPr>
        <p:spPr>
          <a:xfrm>
            <a:off x="2011680" y="4123944"/>
            <a:ext cx="3886200" cy="640080"/>
          </a:xfrm>
          <a:prstGeom prst="rect">
            <a:avLst/>
          </a:prstGeom>
          <a:noFill/>
        </p:spPr>
        <p:txBody>
          <a:bodyPr wrap="square">
            <a:spAutoFit/>
          </a:bodyPr>
          <a:lstStyle/>
          <a:p>
            <a:pPr algn="l"/>
            <a:r>
              <a:rPr sz="1000" b="0" i="0">
                <a:solidFill>
                  <a:srgbClr val="333333"/>
                </a:solidFill>
                <a:latin typeface="Calibri"/>
              </a:rPr>
              <a:t>Full control of detection thresholds, modalities, and model fine-tuning on Citi's own fraud data.</a:t>
            </a:r>
          </a:p>
        </p:txBody>
      </p:sp>
      <p:sp>
        <p:nvSpPr>
          <p:cNvPr id="28" name="TextBox 27"/>
          <p:cNvSpPr txBox="1"/>
          <p:nvPr/>
        </p:nvSpPr>
        <p:spPr>
          <a:xfrm>
            <a:off x="6035040" y="4123944"/>
            <a:ext cx="3886200" cy="640080"/>
          </a:xfrm>
          <a:prstGeom prst="rect">
            <a:avLst/>
          </a:prstGeom>
          <a:noFill/>
        </p:spPr>
        <p:txBody>
          <a:bodyPr wrap="square">
            <a:spAutoFit/>
          </a:bodyPr>
          <a:lstStyle/>
          <a:p>
            <a:pPr algn="l"/>
            <a:r>
              <a:rPr sz="1000" b="0" i="0">
                <a:solidFill>
                  <a:srgbClr val="333333"/>
                </a:solidFill>
                <a:latin typeface="Calibri"/>
              </a:rPr>
              <a:t>Limited to vendor roadmap. Cannot fine-tune on Citi-specific document formats or fraud patterns.</a:t>
            </a:r>
          </a:p>
        </p:txBody>
      </p:sp>
      <p:sp>
        <p:nvSpPr>
          <p:cNvPr id="29" name="Rectangle 28"/>
          <p:cNvSpPr/>
          <p:nvPr/>
        </p:nvSpPr>
        <p:spPr>
          <a:xfrm>
            <a:off x="5943600" y="4078224"/>
            <a:ext cx="73152" cy="749808"/>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 y="4882896"/>
            <a:ext cx="11640312" cy="74980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4928616"/>
            <a:ext cx="1600200" cy="640080"/>
          </a:xfrm>
          <a:prstGeom prst="rect">
            <a:avLst/>
          </a:prstGeom>
          <a:noFill/>
        </p:spPr>
        <p:txBody>
          <a:bodyPr wrap="square">
            <a:spAutoFit/>
          </a:bodyPr>
          <a:lstStyle/>
          <a:p>
            <a:pPr algn="l"/>
            <a:r>
              <a:rPr sz="1000" b="1" i="0">
                <a:solidFill>
                  <a:srgbClr val="002266"/>
                </a:solidFill>
                <a:latin typeface="Calibri"/>
              </a:rPr>
              <a:t>Integration Depth</a:t>
            </a:r>
          </a:p>
        </p:txBody>
      </p:sp>
      <p:sp>
        <p:nvSpPr>
          <p:cNvPr id="32" name="TextBox 31"/>
          <p:cNvSpPr txBox="1"/>
          <p:nvPr/>
        </p:nvSpPr>
        <p:spPr>
          <a:xfrm>
            <a:off x="2011680" y="4928616"/>
            <a:ext cx="3886200" cy="640080"/>
          </a:xfrm>
          <a:prstGeom prst="rect">
            <a:avLst/>
          </a:prstGeom>
          <a:noFill/>
        </p:spPr>
        <p:txBody>
          <a:bodyPr wrap="square">
            <a:spAutoFit/>
          </a:bodyPr>
          <a:lstStyle/>
          <a:p>
            <a:pPr algn="l"/>
            <a:r>
              <a:rPr sz="1000" b="0" i="0">
                <a:solidFill>
                  <a:srgbClr val="333333"/>
                </a:solidFill>
                <a:latin typeface="Calibri"/>
              </a:rPr>
              <a:t>Native REST API integration with CitiDirect®, Citi Stylus, CitiKYC, Helix — seamless data flow.</a:t>
            </a:r>
          </a:p>
        </p:txBody>
      </p:sp>
      <p:sp>
        <p:nvSpPr>
          <p:cNvPr id="33" name="TextBox 32"/>
          <p:cNvSpPr txBox="1"/>
          <p:nvPr/>
        </p:nvSpPr>
        <p:spPr>
          <a:xfrm>
            <a:off x="6035040" y="4928616"/>
            <a:ext cx="3886200" cy="640080"/>
          </a:xfrm>
          <a:prstGeom prst="rect">
            <a:avLst/>
          </a:prstGeom>
          <a:noFill/>
        </p:spPr>
        <p:txBody>
          <a:bodyPr wrap="square">
            <a:spAutoFit/>
          </a:bodyPr>
          <a:lstStyle/>
          <a:p>
            <a:pPr algn="l"/>
            <a:r>
              <a:rPr sz="1000" b="0" i="0">
                <a:solidFill>
                  <a:srgbClr val="333333"/>
                </a:solidFill>
                <a:latin typeface="Calibri"/>
              </a:rPr>
              <a:t>Middleware adapters required. Integration complexity increases latency and operational overhead.</a:t>
            </a:r>
          </a:p>
        </p:txBody>
      </p:sp>
      <p:sp>
        <p:nvSpPr>
          <p:cNvPr id="34" name="Rectangle 33"/>
          <p:cNvSpPr/>
          <p:nvPr/>
        </p:nvSpPr>
        <p:spPr>
          <a:xfrm>
            <a:off x="5943600" y="4882896"/>
            <a:ext cx="73152" cy="749808"/>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 y="5687568"/>
            <a:ext cx="11640312"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5733288"/>
            <a:ext cx="1600200" cy="640080"/>
          </a:xfrm>
          <a:prstGeom prst="rect">
            <a:avLst/>
          </a:prstGeom>
          <a:noFill/>
        </p:spPr>
        <p:txBody>
          <a:bodyPr wrap="square">
            <a:spAutoFit/>
          </a:bodyPr>
          <a:lstStyle/>
          <a:p>
            <a:pPr algn="l"/>
            <a:r>
              <a:rPr sz="1000" b="1" i="0">
                <a:solidFill>
                  <a:srgbClr val="002266"/>
                </a:solidFill>
                <a:latin typeface="Calibri"/>
              </a:rPr>
              <a:t>Strategic Ownership</a:t>
            </a:r>
          </a:p>
        </p:txBody>
      </p:sp>
      <p:sp>
        <p:nvSpPr>
          <p:cNvPr id="37" name="TextBox 36"/>
          <p:cNvSpPr txBox="1"/>
          <p:nvPr/>
        </p:nvSpPr>
        <p:spPr>
          <a:xfrm>
            <a:off x="2011680" y="5733288"/>
            <a:ext cx="3886200" cy="640080"/>
          </a:xfrm>
          <a:prstGeom prst="rect">
            <a:avLst/>
          </a:prstGeom>
          <a:noFill/>
        </p:spPr>
        <p:txBody>
          <a:bodyPr wrap="square">
            <a:spAutoFit/>
          </a:bodyPr>
          <a:lstStyle/>
          <a:p>
            <a:pPr algn="l"/>
            <a:r>
              <a:rPr sz="1000" b="0" i="0">
                <a:solidFill>
                  <a:srgbClr val="333333"/>
                </a:solidFill>
                <a:latin typeface="Calibri"/>
              </a:rPr>
              <a:t>Citi owns the IP. Becomes a competitive moat and potential platform for Citi's client-facing products.</a:t>
            </a:r>
          </a:p>
        </p:txBody>
      </p:sp>
      <p:sp>
        <p:nvSpPr>
          <p:cNvPr id="38" name="TextBox 37"/>
          <p:cNvSpPr txBox="1"/>
          <p:nvPr/>
        </p:nvSpPr>
        <p:spPr>
          <a:xfrm>
            <a:off x="6035040" y="5733288"/>
            <a:ext cx="3886200" cy="640080"/>
          </a:xfrm>
          <a:prstGeom prst="rect">
            <a:avLst/>
          </a:prstGeom>
          <a:noFill/>
        </p:spPr>
        <p:txBody>
          <a:bodyPr wrap="square">
            <a:spAutoFit/>
          </a:bodyPr>
          <a:lstStyle/>
          <a:p>
            <a:pPr algn="l"/>
            <a:r>
              <a:rPr sz="1000" b="0" i="0">
                <a:solidFill>
                  <a:srgbClr val="333333"/>
                </a:solidFill>
                <a:latin typeface="Calibri"/>
              </a:rPr>
              <a:t>Perpetual vendor dependency. No strategic asset created. Can be cut off or price-increased at will.</a:t>
            </a:r>
          </a:p>
        </p:txBody>
      </p:sp>
      <p:sp>
        <p:nvSpPr>
          <p:cNvPr id="39" name="Rectangle 38"/>
          <p:cNvSpPr/>
          <p:nvPr/>
        </p:nvSpPr>
        <p:spPr>
          <a:xfrm>
            <a:off x="5943600" y="5687568"/>
            <a:ext cx="73152" cy="749808"/>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74320" y="6473952"/>
            <a:ext cx="11640312" cy="91440"/>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Regulatory Alignment &amp; Compliance Value</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TrustGuard directly addresses every major 2024–2025 regulatory requirement</a:t>
            </a:r>
          </a:p>
        </p:txBody>
      </p:sp>
      <p:sp>
        <p:nvSpPr>
          <p:cNvPr id="6" name="Rectangle 5"/>
          <p:cNvSpPr/>
          <p:nvPr/>
        </p:nvSpPr>
        <p:spPr>
          <a:xfrm>
            <a:off x="365760" y="1261872"/>
            <a:ext cx="5623560" cy="24231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61872"/>
            <a:ext cx="1371600" cy="24231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1764792"/>
            <a:ext cx="1234440" cy="1463040"/>
          </a:xfrm>
          <a:prstGeom prst="rect">
            <a:avLst/>
          </a:prstGeom>
          <a:noFill/>
        </p:spPr>
        <p:txBody>
          <a:bodyPr wrap="square">
            <a:spAutoFit/>
          </a:bodyPr>
          <a:lstStyle/>
          <a:p>
            <a:pPr algn="ctr"/>
            <a:r>
              <a:rPr sz="1100" b="1" i="0">
                <a:solidFill>
                  <a:srgbClr val="FFFFFF"/>
                </a:solidFill>
                <a:latin typeface="Calibri"/>
              </a:rPr>
              <a:t>FinCEN
FIN-2024-
DEEPFAKEFRAUD</a:t>
            </a:r>
          </a:p>
        </p:txBody>
      </p:sp>
      <p:sp>
        <p:nvSpPr>
          <p:cNvPr id="9" name="TextBox 8"/>
          <p:cNvSpPr txBox="1"/>
          <p:nvPr/>
        </p:nvSpPr>
        <p:spPr>
          <a:xfrm>
            <a:off x="1874519" y="1426463"/>
            <a:ext cx="3977639" cy="457200"/>
          </a:xfrm>
          <a:prstGeom prst="rect">
            <a:avLst/>
          </a:prstGeom>
          <a:noFill/>
        </p:spPr>
        <p:txBody>
          <a:bodyPr wrap="square">
            <a:spAutoFit/>
          </a:bodyPr>
          <a:lstStyle/>
          <a:p>
            <a:pPr algn="l"/>
            <a:r>
              <a:rPr sz="1050" b="0" i="0">
                <a:solidFill>
                  <a:srgbClr val="333333"/>
                </a:solidFill>
                <a:latin typeface="Calibri"/>
              </a:rPr>
              <a:t>• Issued November 13, 2024</a:t>
            </a:r>
          </a:p>
        </p:txBody>
      </p:sp>
      <p:sp>
        <p:nvSpPr>
          <p:cNvPr id="10" name="TextBox 9"/>
          <p:cNvSpPr txBox="1"/>
          <p:nvPr/>
        </p:nvSpPr>
        <p:spPr>
          <a:xfrm>
            <a:off x="1874519" y="1947672"/>
            <a:ext cx="3977639" cy="457200"/>
          </a:xfrm>
          <a:prstGeom prst="rect">
            <a:avLst/>
          </a:prstGeom>
          <a:noFill/>
        </p:spPr>
        <p:txBody>
          <a:bodyPr wrap="square">
            <a:spAutoFit/>
          </a:bodyPr>
          <a:lstStyle/>
          <a:p>
            <a:pPr algn="l"/>
            <a:r>
              <a:rPr sz="1050" b="0" i="0">
                <a:solidFill>
                  <a:srgbClr val="333333"/>
                </a:solidFill>
                <a:latin typeface="Calibri"/>
              </a:rPr>
              <a:t>• Requires detection of GenAI deepfake fraud in client intake</a:t>
            </a:r>
          </a:p>
        </p:txBody>
      </p:sp>
      <p:sp>
        <p:nvSpPr>
          <p:cNvPr id="11" name="TextBox 10"/>
          <p:cNvSpPr txBox="1"/>
          <p:nvPr/>
        </p:nvSpPr>
        <p:spPr>
          <a:xfrm>
            <a:off x="1874519" y="2468879"/>
            <a:ext cx="3977639" cy="457200"/>
          </a:xfrm>
          <a:prstGeom prst="rect">
            <a:avLst/>
          </a:prstGeom>
          <a:noFill/>
        </p:spPr>
        <p:txBody>
          <a:bodyPr wrap="square">
            <a:spAutoFit/>
          </a:bodyPr>
          <a:lstStyle/>
          <a:p>
            <a:pPr algn="l"/>
            <a:r>
              <a:rPr sz="1050" b="0" i="0">
                <a:solidFill>
                  <a:srgbClr val="333333"/>
                </a:solidFill>
                <a:latin typeface="Calibri"/>
              </a:rPr>
              <a:t>• Mandates SAR filing with specific alert code</a:t>
            </a:r>
          </a:p>
        </p:txBody>
      </p:sp>
      <p:sp>
        <p:nvSpPr>
          <p:cNvPr id="12" name="TextBox 11"/>
          <p:cNvSpPr txBox="1"/>
          <p:nvPr/>
        </p:nvSpPr>
        <p:spPr>
          <a:xfrm>
            <a:off x="1874519" y="2990087"/>
            <a:ext cx="3977639" cy="457200"/>
          </a:xfrm>
          <a:prstGeom prst="rect">
            <a:avLst/>
          </a:prstGeom>
          <a:noFill/>
        </p:spPr>
        <p:txBody>
          <a:bodyPr wrap="square">
            <a:spAutoFit/>
          </a:bodyPr>
          <a:lstStyle/>
          <a:p>
            <a:pPr algn="l"/>
            <a:r>
              <a:rPr sz="1050" b="0" i="0">
                <a:solidFill>
                  <a:srgbClr val="333333"/>
                </a:solidFill>
                <a:latin typeface="Calibri"/>
              </a:rPr>
              <a:t>• TrustGuard: auto-detects + auto-tags SARs with FIN-2024-DEEPFAKEFRAUD</a:t>
            </a:r>
          </a:p>
        </p:txBody>
      </p:sp>
      <p:sp>
        <p:nvSpPr>
          <p:cNvPr id="13" name="Rectangle 12"/>
          <p:cNvSpPr/>
          <p:nvPr/>
        </p:nvSpPr>
        <p:spPr>
          <a:xfrm>
            <a:off x="6263640" y="1261872"/>
            <a:ext cx="5623560" cy="24231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261872"/>
            <a:ext cx="1371600" cy="242316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792" y="1764792"/>
            <a:ext cx="1234440" cy="1463040"/>
          </a:xfrm>
          <a:prstGeom prst="rect">
            <a:avLst/>
          </a:prstGeom>
          <a:noFill/>
        </p:spPr>
        <p:txBody>
          <a:bodyPr wrap="square">
            <a:spAutoFit/>
          </a:bodyPr>
          <a:lstStyle/>
          <a:p>
            <a:pPr algn="ctr"/>
            <a:r>
              <a:rPr sz="1100" b="1" i="0">
                <a:solidFill>
                  <a:srgbClr val="FFFFFF"/>
                </a:solidFill>
                <a:latin typeface="Calibri"/>
              </a:rPr>
              <a:t>FATF
Guidance
2024</a:t>
            </a:r>
          </a:p>
        </p:txBody>
      </p:sp>
      <p:sp>
        <p:nvSpPr>
          <p:cNvPr id="16" name="TextBox 15"/>
          <p:cNvSpPr txBox="1"/>
          <p:nvPr/>
        </p:nvSpPr>
        <p:spPr>
          <a:xfrm>
            <a:off x="7772400" y="1426463"/>
            <a:ext cx="3977639" cy="457200"/>
          </a:xfrm>
          <a:prstGeom prst="rect">
            <a:avLst/>
          </a:prstGeom>
          <a:noFill/>
        </p:spPr>
        <p:txBody>
          <a:bodyPr wrap="square">
            <a:spAutoFit/>
          </a:bodyPr>
          <a:lstStyle/>
          <a:p>
            <a:pPr algn="l"/>
            <a:r>
              <a:rPr sz="1050" b="0" i="0">
                <a:solidFill>
                  <a:srgbClr val="333333"/>
                </a:solidFill>
                <a:latin typeface="Calibri"/>
              </a:rPr>
              <a:t>• Name-matching alone declared insufficient for IDV</a:t>
            </a:r>
          </a:p>
        </p:txBody>
      </p:sp>
      <p:sp>
        <p:nvSpPr>
          <p:cNvPr id="17" name="TextBox 16"/>
          <p:cNvSpPr txBox="1"/>
          <p:nvPr/>
        </p:nvSpPr>
        <p:spPr>
          <a:xfrm>
            <a:off x="7772400" y="1947672"/>
            <a:ext cx="3977639" cy="457200"/>
          </a:xfrm>
          <a:prstGeom prst="rect">
            <a:avLst/>
          </a:prstGeom>
          <a:noFill/>
        </p:spPr>
        <p:txBody>
          <a:bodyPr wrap="square">
            <a:spAutoFit/>
          </a:bodyPr>
          <a:lstStyle/>
          <a:p>
            <a:pPr algn="l"/>
            <a:r>
              <a:rPr sz="1050" b="0" i="0">
                <a:solidFill>
                  <a:srgbClr val="333333"/>
                </a:solidFill>
                <a:latin typeface="Calibri"/>
              </a:rPr>
              <a:t>• Explicit guidance on AI-manipulated identity threats</a:t>
            </a:r>
          </a:p>
        </p:txBody>
      </p:sp>
      <p:sp>
        <p:nvSpPr>
          <p:cNvPr id="18" name="TextBox 17"/>
          <p:cNvSpPr txBox="1"/>
          <p:nvPr/>
        </p:nvSpPr>
        <p:spPr>
          <a:xfrm>
            <a:off x="7772400" y="2468879"/>
            <a:ext cx="3977639" cy="457200"/>
          </a:xfrm>
          <a:prstGeom prst="rect">
            <a:avLst/>
          </a:prstGeom>
          <a:noFill/>
        </p:spPr>
        <p:txBody>
          <a:bodyPr wrap="square">
            <a:spAutoFit/>
          </a:bodyPr>
          <a:lstStyle/>
          <a:p>
            <a:pPr algn="l"/>
            <a:r>
              <a:rPr sz="1050" b="0" i="0">
                <a:solidFill>
                  <a:srgbClr val="333333"/>
                </a:solidFill>
                <a:latin typeface="Calibri"/>
              </a:rPr>
              <a:t>• Travel Rule (Rec. 16) demands validated payment data</a:t>
            </a:r>
          </a:p>
        </p:txBody>
      </p:sp>
      <p:sp>
        <p:nvSpPr>
          <p:cNvPr id="19" name="TextBox 18"/>
          <p:cNvSpPr txBox="1"/>
          <p:nvPr/>
        </p:nvSpPr>
        <p:spPr>
          <a:xfrm>
            <a:off x="7772400" y="2990087"/>
            <a:ext cx="3977639" cy="457200"/>
          </a:xfrm>
          <a:prstGeom prst="rect">
            <a:avLst/>
          </a:prstGeom>
          <a:noFill/>
        </p:spPr>
        <p:txBody>
          <a:bodyPr wrap="square">
            <a:spAutoFit/>
          </a:bodyPr>
          <a:lstStyle/>
          <a:p>
            <a:pPr algn="l"/>
            <a:r>
              <a:rPr sz="1050" b="0" i="0">
                <a:solidFill>
                  <a:srgbClr val="333333"/>
                </a:solidFill>
                <a:latin typeface="Calibri"/>
              </a:rPr>
              <a:t>• TrustGuard: adds multi-modal identity authenticity layer</a:t>
            </a:r>
          </a:p>
        </p:txBody>
      </p:sp>
      <p:sp>
        <p:nvSpPr>
          <p:cNvPr id="20" name="Rectangle 19"/>
          <p:cNvSpPr/>
          <p:nvPr/>
        </p:nvSpPr>
        <p:spPr>
          <a:xfrm>
            <a:off x="365760" y="3867912"/>
            <a:ext cx="5623560" cy="24231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3867912"/>
            <a:ext cx="1371600" cy="2423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4370832"/>
            <a:ext cx="1234440" cy="1463040"/>
          </a:xfrm>
          <a:prstGeom prst="rect">
            <a:avLst/>
          </a:prstGeom>
          <a:noFill/>
        </p:spPr>
        <p:txBody>
          <a:bodyPr wrap="square">
            <a:spAutoFit/>
          </a:bodyPr>
          <a:lstStyle/>
          <a:p>
            <a:pPr algn="ctr"/>
            <a:r>
              <a:rPr sz="1100" b="1" i="0">
                <a:solidFill>
                  <a:srgbClr val="FFFFFF"/>
                </a:solidFill>
                <a:latin typeface="Calibri"/>
              </a:rPr>
              <a:t>EU AI Act
2025</a:t>
            </a:r>
          </a:p>
        </p:txBody>
      </p:sp>
      <p:sp>
        <p:nvSpPr>
          <p:cNvPr id="23" name="TextBox 22"/>
          <p:cNvSpPr txBox="1"/>
          <p:nvPr/>
        </p:nvSpPr>
        <p:spPr>
          <a:xfrm>
            <a:off x="1874519" y="4032504"/>
            <a:ext cx="3977639" cy="457200"/>
          </a:xfrm>
          <a:prstGeom prst="rect">
            <a:avLst/>
          </a:prstGeom>
          <a:noFill/>
        </p:spPr>
        <p:txBody>
          <a:bodyPr wrap="square">
            <a:spAutoFit/>
          </a:bodyPr>
          <a:lstStyle/>
          <a:p>
            <a:pPr algn="l"/>
            <a:r>
              <a:rPr sz="1050" b="0" i="0">
                <a:solidFill>
                  <a:srgbClr val="333333"/>
                </a:solidFill>
                <a:latin typeface="Calibri"/>
              </a:rPr>
              <a:t>• KYC/IDV classified as high-risk AI use case</a:t>
            </a:r>
          </a:p>
        </p:txBody>
      </p:sp>
      <p:sp>
        <p:nvSpPr>
          <p:cNvPr id="24" name="TextBox 23"/>
          <p:cNvSpPr txBox="1"/>
          <p:nvPr/>
        </p:nvSpPr>
        <p:spPr>
          <a:xfrm>
            <a:off x="1874519" y="4553712"/>
            <a:ext cx="3977639" cy="457200"/>
          </a:xfrm>
          <a:prstGeom prst="rect">
            <a:avLst/>
          </a:prstGeom>
          <a:noFill/>
        </p:spPr>
        <p:txBody>
          <a:bodyPr wrap="square">
            <a:spAutoFit/>
          </a:bodyPr>
          <a:lstStyle/>
          <a:p>
            <a:pPr algn="l"/>
            <a:r>
              <a:rPr sz="1050" b="0" i="0">
                <a:solidFill>
                  <a:srgbClr val="333333"/>
                </a:solidFill>
                <a:latin typeface="Calibri"/>
              </a:rPr>
              <a:t>• Penalties up to €35M or 7% of global turnover</a:t>
            </a:r>
          </a:p>
        </p:txBody>
      </p:sp>
      <p:sp>
        <p:nvSpPr>
          <p:cNvPr id="25" name="TextBox 24"/>
          <p:cNvSpPr txBox="1"/>
          <p:nvPr/>
        </p:nvSpPr>
        <p:spPr>
          <a:xfrm>
            <a:off x="1874519" y="5074920"/>
            <a:ext cx="3977639" cy="457200"/>
          </a:xfrm>
          <a:prstGeom prst="rect">
            <a:avLst/>
          </a:prstGeom>
          <a:noFill/>
        </p:spPr>
        <p:txBody>
          <a:bodyPr wrap="square">
            <a:spAutoFit/>
          </a:bodyPr>
          <a:lstStyle/>
          <a:p>
            <a:pPr algn="l"/>
            <a:r>
              <a:rPr sz="1050" b="0" i="0">
                <a:solidFill>
                  <a:srgbClr val="333333"/>
                </a:solidFill>
                <a:latin typeface="Calibri"/>
              </a:rPr>
              <a:t>• Demands explainability and audit logs for AI decisions</a:t>
            </a:r>
          </a:p>
        </p:txBody>
      </p:sp>
      <p:sp>
        <p:nvSpPr>
          <p:cNvPr id="26" name="TextBox 25"/>
          <p:cNvSpPr txBox="1"/>
          <p:nvPr/>
        </p:nvSpPr>
        <p:spPr>
          <a:xfrm>
            <a:off x="1874519" y="5596128"/>
            <a:ext cx="3977639" cy="457200"/>
          </a:xfrm>
          <a:prstGeom prst="rect">
            <a:avLst/>
          </a:prstGeom>
          <a:noFill/>
        </p:spPr>
        <p:txBody>
          <a:bodyPr wrap="square">
            <a:spAutoFit/>
          </a:bodyPr>
          <a:lstStyle/>
          <a:p>
            <a:pPr algn="l"/>
            <a:r>
              <a:rPr sz="1050" b="0" i="0">
                <a:solidFill>
                  <a:srgbClr val="333333"/>
                </a:solidFill>
                <a:latin typeface="Calibri"/>
              </a:rPr>
              <a:t>• TrustGuard: full explainability, artefact-level audit trail</a:t>
            </a:r>
          </a:p>
        </p:txBody>
      </p:sp>
      <p:sp>
        <p:nvSpPr>
          <p:cNvPr id="27" name="Rectangle 26"/>
          <p:cNvSpPr/>
          <p:nvPr/>
        </p:nvSpPr>
        <p:spPr>
          <a:xfrm>
            <a:off x="6263640" y="3867912"/>
            <a:ext cx="5623560" cy="24231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63640" y="3867912"/>
            <a:ext cx="1371600" cy="2423160"/>
          </a:xfrm>
          <a:prstGeom prst="rect">
            <a:avLst/>
          </a:prstGeom>
          <a:solidFill>
            <a:srgbClr val="006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36792" y="4370832"/>
            <a:ext cx="1234440" cy="1463040"/>
          </a:xfrm>
          <a:prstGeom prst="rect">
            <a:avLst/>
          </a:prstGeom>
          <a:noFill/>
        </p:spPr>
        <p:txBody>
          <a:bodyPr wrap="square">
            <a:spAutoFit/>
          </a:bodyPr>
          <a:lstStyle/>
          <a:p>
            <a:pPr algn="ctr"/>
            <a:r>
              <a:rPr sz="1100" b="1" i="0">
                <a:solidFill>
                  <a:srgbClr val="FFFFFF"/>
                </a:solidFill>
                <a:latin typeface="Calibri"/>
              </a:rPr>
              <a:t>FCA (UK)
2024</a:t>
            </a:r>
          </a:p>
        </p:txBody>
      </p:sp>
      <p:sp>
        <p:nvSpPr>
          <p:cNvPr id="30" name="TextBox 29"/>
          <p:cNvSpPr txBox="1"/>
          <p:nvPr/>
        </p:nvSpPr>
        <p:spPr>
          <a:xfrm>
            <a:off x="7772400" y="4032504"/>
            <a:ext cx="3977639" cy="457200"/>
          </a:xfrm>
          <a:prstGeom prst="rect">
            <a:avLst/>
          </a:prstGeom>
          <a:noFill/>
        </p:spPr>
        <p:txBody>
          <a:bodyPr wrap="square">
            <a:spAutoFit/>
          </a:bodyPr>
          <a:lstStyle/>
          <a:p>
            <a:pPr algn="l"/>
            <a:r>
              <a:rPr sz="1050" b="0" i="0">
                <a:solidFill>
                  <a:srgbClr val="333333"/>
                </a:solidFill>
                <a:latin typeface="Calibri"/>
              </a:rPr>
              <a:t>• £176M in fines in 2024 — 3× year-on-year increase</a:t>
            </a:r>
          </a:p>
        </p:txBody>
      </p:sp>
      <p:sp>
        <p:nvSpPr>
          <p:cNvPr id="31" name="TextBox 30"/>
          <p:cNvSpPr txBox="1"/>
          <p:nvPr/>
        </p:nvSpPr>
        <p:spPr>
          <a:xfrm>
            <a:off x="7772400" y="4553712"/>
            <a:ext cx="3977639" cy="457200"/>
          </a:xfrm>
          <a:prstGeom prst="rect">
            <a:avLst/>
          </a:prstGeom>
          <a:noFill/>
        </p:spPr>
        <p:txBody>
          <a:bodyPr wrap="square">
            <a:spAutoFit/>
          </a:bodyPr>
          <a:lstStyle/>
          <a:p>
            <a:pPr algn="l"/>
            <a:r>
              <a:rPr sz="1050" b="0" i="0">
                <a:solidFill>
                  <a:srgbClr val="333333"/>
                </a:solidFill>
                <a:latin typeface="Calibri"/>
              </a:rPr>
              <a:t>• 'Failure to prevent fraud' law enacted</a:t>
            </a:r>
          </a:p>
        </p:txBody>
      </p:sp>
      <p:sp>
        <p:nvSpPr>
          <p:cNvPr id="32" name="TextBox 31"/>
          <p:cNvSpPr txBox="1"/>
          <p:nvPr/>
        </p:nvSpPr>
        <p:spPr>
          <a:xfrm>
            <a:off x="7772400" y="5074920"/>
            <a:ext cx="3977639" cy="457200"/>
          </a:xfrm>
          <a:prstGeom prst="rect">
            <a:avLst/>
          </a:prstGeom>
          <a:noFill/>
        </p:spPr>
        <p:txBody>
          <a:bodyPr wrap="square">
            <a:spAutoFit/>
          </a:bodyPr>
          <a:lstStyle/>
          <a:p>
            <a:pPr algn="l"/>
            <a:r>
              <a:rPr sz="1050" b="0" i="0">
                <a:solidFill>
                  <a:srgbClr val="333333"/>
                </a:solidFill>
                <a:latin typeface="Calibri"/>
              </a:rPr>
              <a:t>• Expects proactive AI fraud detection controls</a:t>
            </a:r>
          </a:p>
        </p:txBody>
      </p:sp>
      <p:sp>
        <p:nvSpPr>
          <p:cNvPr id="33" name="TextBox 32"/>
          <p:cNvSpPr txBox="1"/>
          <p:nvPr/>
        </p:nvSpPr>
        <p:spPr>
          <a:xfrm>
            <a:off x="7772400" y="5596128"/>
            <a:ext cx="3977639" cy="457200"/>
          </a:xfrm>
          <a:prstGeom prst="rect">
            <a:avLst/>
          </a:prstGeom>
          <a:noFill/>
        </p:spPr>
        <p:txBody>
          <a:bodyPr wrap="square">
            <a:spAutoFit/>
          </a:bodyPr>
          <a:lstStyle/>
          <a:p>
            <a:pPr algn="l"/>
            <a:r>
              <a:rPr sz="1050" b="0" i="0">
                <a:solidFill>
                  <a:srgbClr val="333333"/>
                </a:solidFill>
                <a:latin typeface="Calibri"/>
              </a:rPr>
              <a:t>• TrustGuard: proactive detection at the intake point</a:t>
            </a:r>
          </a:p>
        </p:txBody>
      </p:sp>
      <p:sp>
        <p:nvSpPr>
          <p:cNvPr id="34" name="Rectangle 33"/>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Business Case &amp; Return on Investment</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The cost of inaction vastly exceeds the cost of building TrustGuard</a:t>
            </a:r>
          </a:p>
        </p:txBody>
      </p:sp>
      <p:sp>
        <p:nvSpPr>
          <p:cNvPr id="6" name="Rectangle 5"/>
          <p:cNvSpPr/>
          <p:nvPr/>
        </p:nvSpPr>
        <p:spPr>
          <a:xfrm>
            <a:off x="274320" y="1234440"/>
            <a:ext cx="5349240" cy="52578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234440"/>
            <a:ext cx="5349240" cy="457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289304"/>
            <a:ext cx="5074920" cy="347472"/>
          </a:xfrm>
          <a:prstGeom prst="rect">
            <a:avLst/>
          </a:prstGeom>
          <a:noFill/>
        </p:spPr>
        <p:txBody>
          <a:bodyPr wrap="square">
            <a:spAutoFit/>
          </a:bodyPr>
          <a:lstStyle/>
          <a:p>
            <a:pPr algn="l"/>
            <a:r>
              <a:rPr sz="1400" b="1" i="0">
                <a:solidFill>
                  <a:srgbClr val="FFFFFF"/>
                </a:solidFill>
                <a:latin typeface="Calibri"/>
              </a:rPr>
              <a:t>💸  Cost of Inaction</a:t>
            </a:r>
          </a:p>
        </p:txBody>
      </p:sp>
      <p:sp>
        <p:nvSpPr>
          <p:cNvPr id="9" name="Rectangle 8"/>
          <p:cNvSpPr/>
          <p:nvPr/>
        </p:nvSpPr>
        <p:spPr>
          <a:xfrm>
            <a:off x="411480" y="1828800"/>
            <a:ext cx="50749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01952"/>
            <a:ext cx="1280160" cy="502920"/>
          </a:xfrm>
          <a:prstGeom prst="rect">
            <a:avLst/>
          </a:prstGeom>
          <a:noFill/>
        </p:spPr>
        <p:txBody>
          <a:bodyPr wrap="square">
            <a:spAutoFit/>
          </a:bodyPr>
          <a:lstStyle/>
          <a:p>
            <a:pPr algn="l"/>
            <a:r>
              <a:rPr sz="1800" b="1" i="0">
                <a:solidFill>
                  <a:srgbClr val="CC0000"/>
                </a:solidFill>
                <a:latin typeface="Calibri"/>
              </a:rPr>
              <a:t>$40B</a:t>
            </a:r>
          </a:p>
        </p:txBody>
      </p:sp>
      <p:sp>
        <p:nvSpPr>
          <p:cNvPr id="11" name="TextBox 10"/>
          <p:cNvSpPr txBox="1"/>
          <p:nvPr/>
        </p:nvSpPr>
        <p:spPr>
          <a:xfrm>
            <a:off x="1874519" y="1965960"/>
            <a:ext cx="3337560" cy="384048"/>
          </a:xfrm>
          <a:prstGeom prst="rect">
            <a:avLst/>
          </a:prstGeom>
          <a:noFill/>
        </p:spPr>
        <p:txBody>
          <a:bodyPr wrap="square">
            <a:spAutoFit/>
          </a:bodyPr>
          <a:lstStyle/>
          <a:p>
            <a:pPr algn="l"/>
            <a:r>
              <a:rPr sz="1050" b="0" i="0">
                <a:solidFill>
                  <a:srgbClr val="333333"/>
                </a:solidFill>
                <a:latin typeface="Calibri"/>
              </a:rPr>
              <a:t>Projected US AI fraud losses by 2027</a:t>
            </a:r>
          </a:p>
        </p:txBody>
      </p:sp>
      <p:sp>
        <p:nvSpPr>
          <p:cNvPr id="12" name="Rectangle 11"/>
          <p:cNvSpPr/>
          <p:nvPr/>
        </p:nvSpPr>
        <p:spPr>
          <a:xfrm>
            <a:off x="411480" y="2587752"/>
            <a:ext cx="50749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660904"/>
            <a:ext cx="1280160" cy="502920"/>
          </a:xfrm>
          <a:prstGeom prst="rect">
            <a:avLst/>
          </a:prstGeom>
          <a:noFill/>
        </p:spPr>
        <p:txBody>
          <a:bodyPr wrap="square">
            <a:spAutoFit/>
          </a:bodyPr>
          <a:lstStyle/>
          <a:p>
            <a:pPr algn="l"/>
            <a:r>
              <a:rPr sz="1800" b="1" i="0">
                <a:solidFill>
                  <a:srgbClr val="CC0000"/>
                </a:solidFill>
                <a:latin typeface="Calibri"/>
              </a:rPr>
              <a:t>$4.5B</a:t>
            </a:r>
          </a:p>
        </p:txBody>
      </p:sp>
      <p:sp>
        <p:nvSpPr>
          <p:cNvPr id="14" name="TextBox 13"/>
          <p:cNvSpPr txBox="1"/>
          <p:nvPr/>
        </p:nvSpPr>
        <p:spPr>
          <a:xfrm>
            <a:off x="1874519" y="2724912"/>
            <a:ext cx="3337560" cy="384048"/>
          </a:xfrm>
          <a:prstGeom prst="rect">
            <a:avLst/>
          </a:prstGeom>
          <a:noFill/>
        </p:spPr>
        <p:txBody>
          <a:bodyPr wrap="square">
            <a:spAutoFit/>
          </a:bodyPr>
          <a:lstStyle/>
          <a:p>
            <a:pPr algn="l"/>
            <a:r>
              <a:rPr sz="1050" b="0" i="0">
                <a:solidFill>
                  <a:srgbClr val="333333"/>
                </a:solidFill>
                <a:latin typeface="Calibri"/>
              </a:rPr>
              <a:t>Global KYC/AML penalties in 2024</a:t>
            </a:r>
          </a:p>
        </p:txBody>
      </p:sp>
      <p:sp>
        <p:nvSpPr>
          <p:cNvPr id="15" name="Rectangle 14"/>
          <p:cNvSpPr/>
          <p:nvPr/>
        </p:nvSpPr>
        <p:spPr>
          <a:xfrm>
            <a:off x="411480" y="3346704"/>
            <a:ext cx="50749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419856"/>
            <a:ext cx="1280160" cy="502920"/>
          </a:xfrm>
          <a:prstGeom prst="rect">
            <a:avLst/>
          </a:prstGeom>
          <a:noFill/>
        </p:spPr>
        <p:txBody>
          <a:bodyPr wrap="square">
            <a:spAutoFit/>
          </a:bodyPr>
          <a:lstStyle/>
          <a:p>
            <a:pPr algn="l"/>
            <a:r>
              <a:rPr sz="1800" b="1" i="0">
                <a:solidFill>
                  <a:srgbClr val="CC0000"/>
                </a:solidFill>
                <a:latin typeface="Calibri"/>
              </a:rPr>
              <a:t>$600K+</a:t>
            </a:r>
          </a:p>
        </p:txBody>
      </p:sp>
      <p:sp>
        <p:nvSpPr>
          <p:cNvPr id="17" name="TextBox 16"/>
          <p:cNvSpPr txBox="1"/>
          <p:nvPr/>
        </p:nvSpPr>
        <p:spPr>
          <a:xfrm>
            <a:off x="1874519" y="3483864"/>
            <a:ext cx="3337560" cy="384048"/>
          </a:xfrm>
          <a:prstGeom prst="rect">
            <a:avLst/>
          </a:prstGeom>
          <a:noFill/>
        </p:spPr>
        <p:txBody>
          <a:bodyPr wrap="square">
            <a:spAutoFit/>
          </a:bodyPr>
          <a:lstStyle/>
          <a:p>
            <a:pPr algn="l"/>
            <a:r>
              <a:rPr sz="1050" b="0" i="0">
                <a:solidFill>
                  <a:srgbClr val="333333"/>
                </a:solidFill>
                <a:latin typeface="Calibri"/>
              </a:rPr>
              <a:t>Average loss per affected financial firm</a:t>
            </a:r>
          </a:p>
        </p:txBody>
      </p:sp>
      <p:sp>
        <p:nvSpPr>
          <p:cNvPr id="18" name="Rectangle 17"/>
          <p:cNvSpPr/>
          <p:nvPr/>
        </p:nvSpPr>
        <p:spPr>
          <a:xfrm>
            <a:off x="411480" y="4105656"/>
            <a:ext cx="50749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178808"/>
            <a:ext cx="1280160" cy="502920"/>
          </a:xfrm>
          <a:prstGeom prst="rect">
            <a:avLst/>
          </a:prstGeom>
          <a:noFill/>
        </p:spPr>
        <p:txBody>
          <a:bodyPr wrap="square">
            <a:spAutoFit/>
          </a:bodyPr>
          <a:lstStyle/>
          <a:p>
            <a:pPr algn="l"/>
            <a:r>
              <a:rPr sz="1800" b="1" i="0">
                <a:solidFill>
                  <a:srgbClr val="CC0000"/>
                </a:solidFill>
                <a:latin typeface="Calibri"/>
              </a:rPr>
              <a:t>23%</a:t>
            </a:r>
          </a:p>
        </p:txBody>
      </p:sp>
      <p:sp>
        <p:nvSpPr>
          <p:cNvPr id="20" name="TextBox 19"/>
          <p:cNvSpPr txBox="1"/>
          <p:nvPr/>
        </p:nvSpPr>
        <p:spPr>
          <a:xfrm>
            <a:off x="1874519" y="4242816"/>
            <a:ext cx="3337560" cy="384048"/>
          </a:xfrm>
          <a:prstGeom prst="rect">
            <a:avLst/>
          </a:prstGeom>
          <a:noFill/>
        </p:spPr>
        <p:txBody>
          <a:bodyPr wrap="square">
            <a:spAutoFit/>
          </a:bodyPr>
          <a:lstStyle/>
          <a:p>
            <a:pPr algn="l"/>
            <a:r>
              <a:rPr sz="1050" b="0" i="0">
                <a:solidFill>
                  <a:srgbClr val="333333"/>
                </a:solidFill>
                <a:latin typeface="Calibri"/>
              </a:rPr>
              <a:t>of firms losing $1M+ to deepfakes per incident</a:t>
            </a:r>
          </a:p>
        </p:txBody>
      </p:sp>
      <p:sp>
        <p:nvSpPr>
          <p:cNvPr id="21" name="Rectangle 20"/>
          <p:cNvSpPr/>
          <p:nvPr/>
        </p:nvSpPr>
        <p:spPr>
          <a:xfrm>
            <a:off x="411480" y="4864608"/>
            <a:ext cx="50749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937760"/>
            <a:ext cx="1280160" cy="502920"/>
          </a:xfrm>
          <a:prstGeom prst="rect">
            <a:avLst/>
          </a:prstGeom>
          <a:noFill/>
        </p:spPr>
        <p:txBody>
          <a:bodyPr wrap="square">
            <a:spAutoFit/>
          </a:bodyPr>
          <a:lstStyle/>
          <a:p>
            <a:pPr algn="l"/>
            <a:r>
              <a:rPr sz="1800" b="1" i="0">
                <a:solidFill>
                  <a:srgbClr val="CC0000"/>
                </a:solidFill>
                <a:latin typeface="Calibri"/>
              </a:rPr>
              <a:t>£176M</a:t>
            </a:r>
          </a:p>
        </p:txBody>
      </p:sp>
      <p:sp>
        <p:nvSpPr>
          <p:cNvPr id="23" name="TextBox 22"/>
          <p:cNvSpPr txBox="1"/>
          <p:nvPr/>
        </p:nvSpPr>
        <p:spPr>
          <a:xfrm>
            <a:off x="1874519" y="5001768"/>
            <a:ext cx="3337560" cy="384048"/>
          </a:xfrm>
          <a:prstGeom prst="rect">
            <a:avLst/>
          </a:prstGeom>
          <a:noFill/>
        </p:spPr>
        <p:txBody>
          <a:bodyPr wrap="square">
            <a:spAutoFit/>
          </a:bodyPr>
          <a:lstStyle/>
          <a:p>
            <a:pPr algn="l"/>
            <a:r>
              <a:rPr sz="1050" b="0" i="0">
                <a:solidFill>
                  <a:srgbClr val="333333"/>
                </a:solidFill>
                <a:latin typeface="Calibri"/>
              </a:rPr>
              <a:t>FCA fines in 2024 alone (3× YoY)</a:t>
            </a:r>
          </a:p>
        </p:txBody>
      </p:sp>
      <p:sp>
        <p:nvSpPr>
          <p:cNvPr id="24" name="Rectangle 23"/>
          <p:cNvSpPr/>
          <p:nvPr/>
        </p:nvSpPr>
        <p:spPr>
          <a:xfrm>
            <a:off x="411480" y="5623559"/>
            <a:ext cx="507492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696712"/>
            <a:ext cx="1280160" cy="502920"/>
          </a:xfrm>
          <a:prstGeom prst="rect">
            <a:avLst/>
          </a:prstGeom>
          <a:noFill/>
        </p:spPr>
        <p:txBody>
          <a:bodyPr wrap="square">
            <a:spAutoFit/>
          </a:bodyPr>
          <a:lstStyle/>
          <a:p>
            <a:pPr algn="l"/>
            <a:r>
              <a:rPr sz="1800" b="1" i="0">
                <a:solidFill>
                  <a:srgbClr val="CC0000"/>
                </a:solidFill>
                <a:latin typeface="Calibri"/>
              </a:rPr>
              <a:t>95%</a:t>
            </a:r>
          </a:p>
        </p:txBody>
      </p:sp>
      <p:sp>
        <p:nvSpPr>
          <p:cNvPr id="26" name="TextBox 25"/>
          <p:cNvSpPr txBox="1"/>
          <p:nvPr/>
        </p:nvSpPr>
        <p:spPr>
          <a:xfrm>
            <a:off x="1874519" y="5760720"/>
            <a:ext cx="3337560" cy="384048"/>
          </a:xfrm>
          <a:prstGeom prst="rect">
            <a:avLst/>
          </a:prstGeom>
          <a:noFill/>
        </p:spPr>
        <p:txBody>
          <a:bodyPr wrap="square">
            <a:spAutoFit/>
          </a:bodyPr>
          <a:lstStyle/>
          <a:p>
            <a:pPr algn="l"/>
            <a:r>
              <a:rPr sz="1050" b="0" i="0">
                <a:solidFill>
                  <a:srgbClr val="333333"/>
                </a:solidFill>
                <a:latin typeface="Calibri"/>
              </a:rPr>
              <a:t>Synthetic IDs go undetected without AI detection</a:t>
            </a:r>
          </a:p>
        </p:txBody>
      </p:sp>
      <p:sp>
        <p:nvSpPr>
          <p:cNvPr id="27" name="Rectangle 26"/>
          <p:cNvSpPr/>
          <p:nvPr/>
        </p:nvSpPr>
        <p:spPr>
          <a:xfrm>
            <a:off x="6126480" y="1234440"/>
            <a:ext cx="5788152" cy="525780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1289304"/>
            <a:ext cx="5486400" cy="347472"/>
          </a:xfrm>
          <a:prstGeom prst="rect">
            <a:avLst/>
          </a:prstGeom>
          <a:noFill/>
        </p:spPr>
        <p:txBody>
          <a:bodyPr wrap="square">
            <a:spAutoFit/>
          </a:bodyPr>
          <a:lstStyle/>
          <a:p>
            <a:pPr algn="l"/>
            <a:r>
              <a:rPr sz="1400" b="1" i="0">
                <a:solidFill>
                  <a:srgbClr val="FFFFFF"/>
                </a:solidFill>
                <a:latin typeface="Calibri"/>
              </a:rPr>
              <a:t>✅  Cost of Building TrustGuard</a:t>
            </a:r>
          </a:p>
        </p:txBody>
      </p:sp>
      <p:sp>
        <p:nvSpPr>
          <p:cNvPr id="29" name="Rectangle 28"/>
          <p:cNvSpPr/>
          <p:nvPr/>
        </p:nvSpPr>
        <p:spPr>
          <a:xfrm>
            <a:off x="6263640" y="1828800"/>
            <a:ext cx="5440680" cy="658368"/>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1901952"/>
            <a:ext cx="1280160" cy="502920"/>
          </a:xfrm>
          <a:prstGeom prst="rect">
            <a:avLst/>
          </a:prstGeom>
          <a:noFill/>
        </p:spPr>
        <p:txBody>
          <a:bodyPr wrap="square">
            <a:spAutoFit/>
          </a:bodyPr>
          <a:lstStyle/>
          <a:p>
            <a:pPr algn="l"/>
            <a:r>
              <a:rPr sz="1800" b="1" i="0">
                <a:solidFill>
                  <a:srgbClr val="009966"/>
                </a:solidFill>
                <a:latin typeface="Calibri"/>
              </a:rPr>
              <a:t>~$400K</a:t>
            </a:r>
          </a:p>
        </p:txBody>
      </p:sp>
      <p:sp>
        <p:nvSpPr>
          <p:cNvPr id="31" name="TextBox 30"/>
          <p:cNvSpPr txBox="1"/>
          <p:nvPr/>
        </p:nvSpPr>
        <p:spPr>
          <a:xfrm>
            <a:off x="7726679" y="1938528"/>
            <a:ext cx="3840480" cy="457200"/>
          </a:xfrm>
          <a:prstGeom prst="rect">
            <a:avLst/>
          </a:prstGeom>
          <a:noFill/>
        </p:spPr>
        <p:txBody>
          <a:bodyPr wrap="square">
            <a:spAutoFit/>
          </a:bodyPr>
          <a:lstStyle/>
          <a:p>
            <a:pPr algn="l"/>
            <a:r>
              <a:rPr sz="1050" b="0" i="0">
                <a:solidFill>
                  <a:srgbClr val="E5F2FF"/>
                </a:solidFill>
                <a:latin typeface="Calibri"/>
              </a:rPr>
              <a:t>Year 1 build cost
(engineering + infra)</a:t>
            </a:r>
          </a:p>
        </p:txBody>
      </p:sp>
      <p:sp>
        <p:nvSpPr>
          <p:cNvPr id="32" name="Rectangle 31"/>
          <p:cNvSpPr/>
          <p:nvPr/>
        </p:nvSpPr>
        <p:spPr>
          <a:xfrm>
            <a:off x="6263640" y="2587752"/>
            <a:ext cx="5440680" cy="658368"/>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2660904"/>
            <a:ext cx="1280160" cy="502920"/>
          </a:xfrm>
          <a:prstGeom prst="rect">
            <a:avLst/>
          </a:prstGeom>
          <a:noFill/>
        </p:spPr>
        <p:txBody>
          <a:bodyPr wrap="square">
            <a:spAutoFit/>
          </a:bodyPr>
          <a:lstStyle/>
          <a:p>
            <a:pPr algn="l"/>
            <a:r>
              <a:rPr sz="1800" b="1" i="0">
                <a:solidFill>
                  <a:srgbClr val="009966"/>
                </a:solidFill>
                <a:latin typeface="Calibri"/>
              </a:rPr>
              <a:t>~$1.2M/yr</a:t>
            </a:r>
          </a:p>
        </p:txBody>
      </p:sp>
      <p:sp>
        <p:nvSpPr>
          <p:cNvPr id="34" name="TextBox 33"/>
          <p:cNvSpPr txBox="1"/>
          <p:nvPr/>
        </p:nvSpPr>
        <p:spPr>
          <a:xfrm>
            <a:off x="7726679" y="2697480"/>
            <a:ext cx="3840480" cy="457200"/>
          </a:xfrm>
          <a:prstGeom prst="rect">
            <a:avLst/>
          </a:prstGeom>
          <a:noFill/>
        </p:spPr>
        <p:txBody>
          <a:bodyPr wrap="square">
            <a:spAutoFit/>
          </a:bodyPr>
          <a:lstStyle/>
          <a:p>
            <a:pPr algn="l"/>
            <a:r>
              <a:rPr sz="1050" b="0" i="0">
                <a:solidFill>
                  <a:srgbClr val="E5F2FF"/>
                </a:solidFill>
                <a:latin typeface="Calibri"/>
              </a:rPr>
              <a:t>Ongoing Google Cloud
inference at Citi's volume</a:t>
            </a:r>
          </a:p>
        </p:txBody>
      </p:sp>
      <p:sp>
        <p:nvSpPr>
          <p:cNvPr id="35" name="Rectangle 34"/>
          <p:cNvSpPr/>
          <p:nvPr/>
        </p:nvSpPr>
        <p:spPr>
          <a:xfrm>
            <a:off x="6263640" y="3346704"/>
            <a:ext cx="5440680" cy="658368"/>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3419856"/>
            <a:ext cx="1280160" cy="502920"/>
          </a:xfrm>
          <a:prstGeom prst="rect">
            <a:avLst/>
          </a:prstGeom>
          <a:noFill/>
        </p:spPr>
        <p:txBody>
          <a:bodyPr wrap="square">
            <a:spAutoFit/>
          </a:bodyPr>
          <a:lstStyle/>
          <a:p>
            <a:pPr algn="l"/>
            <a:r>
              <a:rPr sz="1800" b="1" i="0">
                <a:solidFill>
                  <a:srgbClr val="009966"/>
                </a:solidFill>
                <a:latin typeface="Calibri"/>
              </a:rPr>
              <a:t>$0.002</a:t>
            </a:r>
          </a:p>
        </p:txBody>
      </p:sp>
      <p:sp>
        <p:nvSpPr>
          <p:cNvPr id="37" name="TextBox 36"/>
          <p:cNvSpPr txBox="1"/>
          <p:nvPr/>
        </p:nvSpPr>
        <p:spPr>
          <a:xfrm>
            <a:off x="7726679" y="3456432"/>
            <a:ext cx="3840480" cy="457200"/>
          </a:xfrm>
          <a:prstGeom prst="rect">
            <a:avLst/>
          </a:prstGeom>
          <a:noFill/>
        </p:spPr>
        <p:txBody>
          <a:bodyPr wrap="square">
            <a:spAutoFit/>
          </a:bodyPr>
          <a:lstStyle/>
          <a:p>
            <a:pPr algn="l"/>
            <a:r>
              <a:rPr sz="1050" b="0" i="0">
                <a:solidFill>
                  <a:srgbClr val="E5F2FF"/>
                </a:solidFill>
                <a:latin typeface="Calibri"/>
              </a:rPr>
              <a:t>Per document screened
(open-source models)</a:t>
            </a:r>
          </a:p>
        </p:txBody>
      </p:sp>
      <p:sp>
        <p:nvSpPr>
          <p:cNvPr id="38" name="Rectangle 37"/>
          <p:cNvSpPr/>
          <p:nvPr/>
        </p:nvSpPr>
        <p:spPr>
          <a:xfrm>
            <a:off x="6263640" y="4105656"/>
            <a:ext cx="5440680" cy="658368"/>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80" y="4178808"/>
            <a:ext cx="1280160" cy="502920"/>
          </a:xfrm>
          <a:prstGeom prst="rect">
            <a:avLst/>
          </a:prstGeom>
          <a:noFill/>
        </p:spPr>
        <p:txBody>
          <a:bodyPr wrap="square">
            <a:spAutoFit/>
          </a:bodyPr>
          <a:lstStyle/>
          <a:p>
            <a:pPr algn="l"/>
            <a:r>
              <a:rPr sz="1800" b="1" i="0">
                <a:solidFill>
                  <a:srgbClr val="009966"/>
                </a:solidFill>
                <a:latin typeface="Calibri"/>
              </a:rPr>
              <a:t>&lt;5ms</a:t>
            </a:r>
          </a:p>
        </p:txBody>
      </p:sp>
      <p:sp>
        <p:nvSpPr>
          <p:cNvPr id="40" name="TextBox 39"/>
          <p:cNvSpPr txBox="1"/>
          <p:nvPr/>
        </p:nvSpPr>
        <p:spPr>
          <a:xfrm>
            <a:off x="7726679" y="4215384"/>
            <a:ext cx="3840480" cy="457200"/>
          </a:xfrm>
          <a:prstGeom prst="rect">
            <a:avLst/>
          </a:prstGeom>
          <a:noFill/>
        </p:spPr>
        <p:txBody>
          <a:bodyPr wrap="square">
            <a:spAutoFit/>
          </a:bodyPr>
          <a:lstStyle/>
          <a:p>
            <a:pPr algn="l"/>
            <a:r>
              <a:rPr sz="1050" b="0" i="0">
                <a:solidFill>
                  <a:srgbClr val="E5F2FF"/>
                </a:solidFill>
                <a:latin typeface="Calibri"/>
              </a:rPr>
              <a:t>Additional latency to
CitiDirect onboarding flow</a:t>
            </a:r>
          </a:p>
        </p:txBody>
      </p:sp>
      <p:sp>
        <p:nvSpPr>
          <p:cNvPr id="41" name="Rectangle 40"/>
          <p:cNvSpPr/>
          <p:nvPr/>
        </p:nvSpPr>
        <p:spPr>
          <a:xfrm>
            <a:off x="6263640" y="4864608"/>
            <a:ext cx="5440680" cy="658368"/>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4937760"/>
            <a:ext cx="1280160" cy="502920"/>
          </a:xfrm>
          <a:prstGeom prst="rect">
            <a:avLst/>
          </a:prstGeom>
          <a:noFill/>
        </p:spPr>
        <p:txBody>
          <a:bodyPr wrap="square">
            <a:spAutoFit/>
          </a:bodyPr>
          <a:lstStyle/>
          <a:p>
            <a:pPr algn="l"/>
            <a:r>
              <a:rPr sz="1800" b="1" i="0">
                <a:solidFill>
                  <a:srgbClr val="009966"/>
                </a:solidFill>
                <a:latin typeface="Calibri"/>
              </a:rPr>
              <a:t>100%</a:t>
            </a:r>
          </a:p>
        </p:txBody>
      </p:sp>
      <p:sp>
        <p:nvSpPr>
          <p:cNvPr id="43" name="TextBox 42"/>
          <p:cNvSpPr txBox="1"/>
          <p:nvPr/>
        </p:nvSpPr>
        <p:spPr>
          <a:xfrm>
            <a:off x="7726679" y="4974336"/>
            <a:ext cx="3840480" cy="457200"/>
          </a:xfrm>
          <a:prstGeom prst="rect">
            <a:avLst/>
          </a:prstGeom>
          <a:noFill/>
        </p:spPr>
        <p:txBody>
          <a:bodyPr wrap="square">
            <a:spAutoFit/>
          </a:bodyPr>
          <a:lstStyle/>
          <a:p>
            <a:pPr algn="l"/>
            <a:r>
              <a:rPr sz="1050" b="0" i="0">
                <a:solidFill>
                  <a:srgbClr val="E5F2FF"/>
                </a:solidFill>
                <a:latin typeface="Calibri"/>
              </a:rPr>
              <a:t>Citi IP ownership;
competitive moat</a:t>
            </a:r>
          </a:p>
        </p:txBody>
      </p:sp>
      <p:sp>
        <p:nvSpPr>
          <p:cNvPr id="44" name="Rectangle 43"/>
          <p:cNvSpPr/>
          <p:nvPr/>
        </p:nvSpPr>
        <p:spPr>
          <a:xfrm>
            <a:off x="6263640" y="5623559"/>
            <a:ext cx="5440680" cy="658368"/>
          </a:xfrm>
          <a:prstGeom prst="rect">
            <a:avLst/>
          </a:prstGeom>
          <a:solidFill>
            <a:srgbClr val="0033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80" y="5696712"/>
            <a:ext cx="1280160" cy="502920"/>
          </a:xfrm>
          <a:prstGeom prst="rect">
            <a:avLst/>
          </a:prstGeom>
          <a:noFill/>
        </p:spPr>
        <p:txBody>
          <a:bodyPr wrap="square">
            <a:spAutoFit/>
          </a:bodyPr>
          <a:lstStyle/>
          <a:p>
            <a:pPr algn="l"/>
            <a:r>
              <a:rPr sz="1800" b="1" i="0">
                <a:solidFill>
                  <a:srgbClr val="009966"/>
                </a:solidFill>
                <a:latin typeface="Calibri"/>
              </a:rPr>
              <a:t>Full</a:t>
            </a:r>
          </a:p>
        </p:txBody>
      </p:sp>
      <p:sp>
        <p:nvSpPr>
          <p:cNvPr id="46" name="TextBox 45"/>
          <p:cNvSpPr txBox="1"/>
          <p:nvPr/>
        </p:nvSpPr>
        <p:spPr>
          <a:xfrm>
            <a:off x="7726679" y="5733288"/>
            <a:ext cx="3840480" cy="457200"/>
          </a:xfrm>
          <a:prstGeom prst="rect">
            <a:avLst/>
          </a:prstGeom>
          <a:noFill/>
        </p:spPr>
        <p:txBody>
          <a:bodyPr wrap="square">
            <a:spAutoFit/>
          </a:bodyPr>
          <a:lstStyle/>
          <a:p>
            <a:pPr algn="l"/>
            <a:r>
              <a:rPr sz="1050" b="0" i="0">
                <a:solidFill>
                  <a:srgbClr val="E5F2FF"/>
                </a:solidFill>
                <a:latin typeface="Calibri"/>
              </a:rPr>
              <a:t>Regulatory explainability
for FinCEN / EU AI Act</a:t>
            </a:r>
          </a:p>
        </p:txBody>
      </p:sp>
      <p:sp>
        <p:nvSpPr>
          <p:cNvPr id="47" name="Rectangle 46"/>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MVP Demo — What We Built</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Working FastAPI microservice with 4 detection endpoints and ensemble risk scoring</a:t>
            </a:r>
          </a:p>
        </p:txBody>
      </p:sp>
      <p:sp>
        <p:nvSpPr>
          <p:cNvPr id="6" name="Rectangle 5"/>
          <p:cNvSpPr/>
          <p:nvPr/>
        </p:nvSpPr>
        <p:spPr>
          <a:xfrm>
            <a:off x="274320" y="1261872"/>
            <a:ext cx="5669280" cy="523036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5303520" cy="384048"/>
          </a:xfrm>
          <a:prstGeom prst="rect">
            <a:avLst/>
          </a:prstGeom>
          <a:noFill/>
        </p:spPr>
        <p:txBody>
          <a:bodyPr wrap="square">
            <a:spAutoFit/>
          </a:bodyPr>
          <a:lstStyle/>
          <a:p>
            <a:pPr algn="l"/>
            <a:r>
              <a:rPr sz="1400" b="1" i="0">
                <a:solidFill>
                  <a:srgbClr val="002266"/>
                </a:solidFill>
                <a:latin typeface="Calibri"/>
              </a:rPr>
              <a:t>⚙  What We Built</a:t>
            </a:r>
          </a:p>
        </p:txBody>
      </p:sp>
      <p:sp>
        <p:nvSpPr>
          <p:cNvPr id="8" name="Rectangle 7"/>
          <p:cNvSpPr/>
          <p:nvPr/>
        </p:nvSpPr>
        <p:spPr>
          <a:xfrm>
            <a:off x="411480" y="1810512"/>
            <a:ext cx="5394960" cy="667512"/>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847088"/>
            <a:ext cx="5212080" cy="274320"/>
          </a:xfrm>
          <a:prstGeom prst="rect">
            <a:avLst/>
          </a:prstGeom>
          <a:noFill/>
        </p:spPr>
        <p:txBody>
          <a:bodyPr wrap="square">
            <a:spAutoFit/>
          </a:bodyPr>
          <a:lstStyle/>
          <a:p>
            <a:pPr algn="l"/>
            <a:r>
              <a:rPr sz="1050" b="1" i="0">
                <a:solidFill>
                  <a:srgbClr val="FF9900"/>
                </a:solidFill>
                <a:latin typeface="Calibri"/>
              </a:rPr>
              <a:t>POST /detect/document</a:t>
            </a:r>
          </a:p>
        </p:txBody>
      </p:sp>
      <p:sp>
        <p:nvSpPr>
          <p:cNvPr id="10" name="TextBox 9"/>
          <p:cNvSpPr txBox="1"/>
          <p:nvPr/>
        </p:nvSpPr>
        <p:spPr>
          <a:xfrm>
            <a:off x="502920" y="2139696"/>
            <a:ext cx="5212080" cy="274320"/>
          </a:xfrm>
          <a:prstGeom prst="rect">
            <a:avLst/>
          </a:prstGeom>
          <a:noFill/>
        </p:spPr>
        <p:txBody>
          <a:bodyPr wrap="square">
            <a:spAutoFit/>
          </a:bodyPr>
          <a:lstStyle/>
          <a:p>
            <a:pPr algn="l"/>
            <a:r>
              <a:rPr sz="950" b="0" i="0">
                <a:solidFill>
                  <a:srgbClr val="E5F2FF"/>
                </a:solidFill>
                <a:latin typeface="Calibri"/>
              </a:rPr>
              <a:t>Upload PDF or image → pixel forensics, metadata analysis, font consistency</a:t>
            </a:r>
          </a:p>
        </p:txBody>
      </p:sp>
      <p:sp>
        <p:nvSpPr>
          <p:cNvPr id="11" name="Rectangle 10"/>
          <p:cNvSpPr/>
          <p:nvPr/>
        </p:nvSpPr>
        <p:spPr>
          <a:xfrm>
            <a:off x="411480" y="2569464"/>
            <a:ext cx="5394960" cy="667512"/>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606040"/>
            <a:ext cx="5212080" cy="274320"/>
          </a:xfrm>
          <a:prstGeom prst="rect">
            <a:avLst/>
          </a:prstGeom>
          <a:noFill/>
        </p:spPr>
        <p:txBody>
          <a:bodyPr wrap="square">
            <a:spAutoFit/>
          </a:bodyPr>
          <a:lstStyle/>
          <a:p>
            <a:pPr algn="l"/>
            <a:r>
              <a:rPr sz="1050" b="1" i="0">
                <a:solidFill>
                  <a:srgbClr val="FF9900"/>
                </a:solidFill>
                <a:latin typeface="Calibri"/>
              </a:rPr>
              <a:t>POST /detect/image</a:t>
            </a:r>
          </a:p>
        </p:txBody>
      </p:sp>
      <p:sp>
        <p:nvSpPr>
          <p:cNvPr id="13" name="TextBox 12"/>
          <p:cNvSpPr txBox="1"/>
          <p:nvPr/>
        </p:nvSpPr>
        <p:spPr>
          <a:xfrm>
            <a:off x="502920" y="2898648"/>
            <a:ext cx="5212080" cy="274320"/>
          </a:xfrm>
          <a:prstGeom prst="rect">
            <a:avLst/>
          </a:prstGeom>
          <a:noFill/>
        </p:spPr>
        <p:txBody>
          <a:bodyPr wrap="square">
            <a:spAutoFit/>
          </a:bodyPr>
          <a:lstStyle/>
          <a:p>
            <a:pPr algn="l"/>
            <a:r>
              <a:rPr sz="950" b="0" i="0">
                <a:solidFill>
                  <a:srgbClr val="E5F2FF"/>
                </a:solidFill>
                <a:latin typeface="Calibri"/>
              </a:rPr>
              <a:t>Upload photo/selfie → GAN artefact detection, face authenticity scoring</a:t>
            </a:r>
          </a:p>
        </p:txBody>
      </p:sp>
      <p:sp>
        <p:nvSpPr>
          <p:cNvPr id="14" name="Rectangle 13"/>
          <p:cNvSpPr/>
          <p:nvPr/>
        </p:nvSpPr>
        <p:spPr>
          <a:xfrm>
            <a:off x="411480" y="3328415"/>
            <a:ext cx="5394960" cy="667512"/>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364991"/>
            <a:ext cx="5212080" cy="274320"/>
          </a:xfrm>
          <a:prstGeom prst="rect">
            <a:avLst/>
          </a:prstGeom>
          <a:noFill/>
        </p:spPr>
        <p:txBody>
          <a:bodyPr wrap="square">
            <a:spAutoFit/>
          </a:bodyPr>
          <a:lstStyle/>
          <a:p>
            <a:pPr algn="l"/>
            <a:r>
              <a:rPr sz="1050" b="1" i="0">
                <a:solidFill>
                  <a:srgbClr val="FF9900"/>
                </a:solidFill>
                <a:latin typeface="Calibri"/>
              </a:rPr>
              <a:t>POST /detect/audio</a:t>
            </a:r>
          </a:p>
        </p:txBody>
      </p:sp>
      <p:sp>
        <p:nvSpPr>
          <p:cNvPr id="16" name="TextBox 15"/>
          <p:cNvSpPr txBox="1"/>
          <p:nvPr/>
        </p:nvSpPr>
        <p:spPr>
          <a:xfrm>
            <a:off x="502920" y="3657599"/>
            <a:ext cx="5212080" cy="274320"/>
          </a:xfrm>
          <a:prstGeom prst="rect">
            <a:avLst/>
          </a:prstGeom>
          <a:noFill/>
        </p:spPr>
        <p:txBody>
          <a:bodyPr wrap="square">
            <a:spAutoFit/>
          </a:bodyPr>
          <a:lstStyle/>
          <a:p>
            <a:pPr algn="l"/>
            <a:r>
              <a:rPr sz="950" b="0" i="0">
                <a:solidFill>
                  <a:srgbClr val="E5F2FF"/>
                </a:solidFill>
                <a:latin typeface="Calibri"/>
              </a:rPr>
              <a:t>Upload voice clip → spectral clone detection, anti-spoofing model</a:t>
            </a:r>
          </a:p>
        </p:txBody>
      </p:sp>
      <p:sp>
        <p:nvSpPr>
          <p:cNvPr id="17" name="Rectangle 16"/>
          <p:cNvSpPr/>
          <p:nvPr/>
        </p:nvSpPr>
        <p:spPr>
          <a:xfrm>
            <a:off x="411480" y="4087368"/>
            <a:ext cx="5394960" cy="667512"/>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123944"/>
            <a:ext cx="5212080" cy="274320"/>
          </a:xfrm>
          <a:prstGeom prst="rect">
            <a:avLst/>
          </a:prstGeom>
          <a:noFill/>
        </p:spPr>
        <p:txBody>
          <a:bodyPr wrap="square">
            <a:spAutoFit/>
          </a:bodyPr>
          <a:lstStyle/>
          <a:p>
            <a:pPr algn="l"/>
            <a:r>
              <a:rPr sz="1050" b="1" i="0">
                <a:solidFill>
                  <a:srgbClr val="FF9900"/>
                </a:solidFill>
                <a:latin typeface="Calibri"/>
              </a:rPr>
              <a:t>POST /detect/text</a:t>
            </a:r>
          </a:p>
        </p:txBody>
      </p:sp>
      <p:sp>
        <p:nvSpPr>
          <p:cNvPr id="19" name="TextBox 18"/>
          <p:cNvSpPr txBox="1"/>
          <p:nvPr/>
        </p:nvSpPr>
        <p:spPr>
          <a:xfrm>
            <a:off x="502920" y="4416552"/>
            <a:ext cx="5212080" cy="274320"/>
          </a:xfrm>
          <a:prstGeom prst="rect">
            <a:avLst/>
          </a:prstGeom>
          <a:noFill/>
        </p:spPr>
        <p:txBody>
          <a:bodyPr wrap="square">
            <a:spAutoFit/>
          </a:bodyPr>
          <a:lstStyle/>
          <a:p>
            <a:pPr algn="l"/>
            <a:r>
              <a:rPr sz="950" b="0" i="0">
                <a:solidFill>
                  <a:srgbClr val="E5F2FF"/>
                </a:solidFill>
                <a:latin typeface="Calibri"/>
              </a:rPr>
              <a:t>Submit profile text → LLM perplexity scoring, burstiness analysis</a:t>
            </a:r>
          </a:p>
        </p:txBody>
      </p:sp>
      <p:sp>
        <p:nvSpPr>
          <p:cNvPr id="20" name="Rectangle 19"/>
          <p:cNvSpPr/>
          <p:nvPr/>
        </p:nvSpPr>
        <p:spPr>
          <a:xfrm>
            <a:off x="411480" y="4846320"/>
            <a:ext cx="5394960" cy="667512"/>
          </a:xfrm>
          <a:prstGeom prst="rect">
            <a:avLst/>
          </a:prstGeom>
          <a:solidFill>
            <a:srgbClr val="3355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882896"/>
            <a:ext cx="5212080" cy="274320"/>
          </a:xfrm>
          <a:prstGeom prst="rect">
            <a:avLst/>
          </a:prstGeom>
          <a:noFill/>
        </p:spPr>
        <p:txBody>
          <a:bodyPr wrap="square">
            <a:spAutoFit/>
          </a:bodyPr>
          <a:lstStyle/>
          <a:p>
            <a:pPr algn="l"/>
            <a:r>
              <a:rPr sz="1050" b="1" i="0">
                <a:solidFill>
                  <a:srgbClr val="FFFFFF"/>
                </a:solidFill>
                <a:latin typeface="Calibri"/>
              </a:rPr>
              <a:t>GET  /health</a:t>
            </a:r>
          </a:p>
        </p:txBody>
      </p:sp>
      <p:sp>
        <p:nvSpPr>
          <p:cNvPr id="22" name="TextBox 21"/>
          <p:cNvSpPr txBox="1"/>
          <p:nvPr/>
        </p:nvSpPr>
        <p:spPr>
          <a:xfrm>
            <a:off x="502920" y="5175504"/>
            <a:ext cx="5212080" cy="274320"/>
          </a:xfrm>
          <a:prstGeom prst="rect">
            <a:avLst/>
          </a:prstGeom>
          <a:noFill/>
        </p:spPr>
        <p:txBody>
          <a:bodyPr wrap="square">
            <a:spAutoFit/>
          </a:bodyPr>
          <a:lstStyle/>
          <a:p>
            <a:pPr algn="l"/>
            <a:r>
              <a:rPr sz="950" b="0" i="0">
                <a:solidFill>
                  <a:srgbClr val="E5F2FF"/>
                </a:solidFill>
                <a:latin typeface="Calibri"/>
              </a:rPr>
              <a:t>Kubernetes-ready liveness probe</a:t>
            </a:r>
          </a:p>
        </p:txBody>
      </p:sp>
      <p:sp>
        <p:nvSpPr>
          <p:cNvPr id="23" name="Rectangle 22"/>
          <p:cNvSpPr/>
          <p:nvPr/>
        </p:nvSpPr>
        <p:spPr>
          <a:xfrm>
            <a:off x="411480" y="5605271"/>
            <a:ext cx="5394960" cy="667512"/>
          </a:xfrm>
          <a:prstGeom prst="rect">
            <a:avLst/>
          </a:prstGeom>
          <a:solidFill>
            <a:srgbClr val="3355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5641847"/>
            <a:ext cx="5212080" cy="274320"/>
          </a:xfrm>
          <a:prstGeom prst="rect">
            <a:avLst/>
          </a:prstGeom>
          <a:noFill/>
        </p:spPr>
        <p:txBody>
          <a:bodyPr wrap="square">
            <a:spAutoFit/>
          </a:bodyPr>
          <a:lstStyle/>
          <a:p>
            <a:pPr algn="l"/>
            <a:r>
              <a:rPr sz="1050" b="1" i="0">
                <a:solidFill>
                  <a:srgbClr val="FFFFFF"/>
                </a:solidFill>
                <a:latin typeface="Calibri"/>
              </a:rPr>
              <a:t>GET  /docs</a:t>
            </a:r>
          </a:p>
        </p:txBody>
      </p:sp>
      <p:sp>
        <p:nvSpPr>
          <p:cNvPr id="25" name="TextBox 24"/>
          <p:cNvSpPr txBox="1"/>
          <p:nvPr/>
        </p:nvSpPr>
        <p:spPr>
          <a:xfrm>
            <a:off x="502920" y="5934455"/>
            <a:ext cx="5212080" cy="274320"/>
          </a:xfrm>
          <a:prstGeom prst="rect">
            <a:avLst/>
          </a:prstGeom>
          <a:noFill/>
        </p:spPr>
        <p:txBody>
          <a:bodyPr wrap="square">
            <a:spAutoFit/>
          </a:bodyPr>
          <a:lstStyle/>
          <a:p>
            <a:pPr algn="l"/>
            <a:r>
              <a:rPr sz="950" b="0" i="0">
                <a:solidFill>
                  <a:srgbClr val="E5F2FF"/>
                </a:solidFill>
                <a:latin typeface="Calibri"/>
              </a:rPr>
              <a:t>Auto-generated OpenAPI spec for CitiDirect® integration</a:t>
            </a:r>
          </a:p>
        </p:txBody>
      </p:sp>
      <p:sp>
        <p:nvSpPr>
          <p:cNvPr id="26" name="Rectangle 25"/>
          <p:cNvSpPr/>
          <p:nvPr/>
        </p:nvSpPr>
        <p:spPr>
          <a:xfrm>
            <a:off x="6309360" y="1261872"/>
            <a:ext cx="5605272" cy="24688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1353312"/>
            <a:ext cx="5212080" cy="384048"/>
          </a:xfrm>
          <a:prstGeom prst="rect">
            <a:avLst/>
          </a:prstGeom>
          <a:noFill/>
        </p:spPr>
        <p:txBody>
          <a:bodyPr wrap="square">
            <a:spAutoFit/>
          </a:bodyPr>
          <a:lstStyle/>
          <a:p>
            <a:pPr algn="l"/>
            <a:r>
              <a:rPr sz="1400" b="1" i="0">
                <a:solidFill>
                  <a:srgbClr val="FFFFFF"/>
                </a:solidFill>
                <a:latin typeface="Calibri"/>
              </a:rPr>
              <a:t>🛠  Tech Stack</a:t>
            </a:r>
          </a:p>
        </p:txBody>
      </p:sp>
      <p:sp>
        <p:nvSpPr>
          <p:cNvPr id="28" name="TextBox 27"/>
          <p:cNvSpPr txBox="1"/>
          <p:nvPr/>
        </p:nvSpPr>
        <p:spPr>
          <a:xfrm>
            <a:off x="6446520" y="1847088"/>
            <a:ext cx="1828800" cy="347472"/>
          </a:xfrm>
          <a:prstGeom prst="rect">
            <a:avLst/>
          </a:prstGeom>
          <a:noFill/>
        </p:spPr>
        <p:txBody>
          <a:bodyPr wrap="square">
            <a:spAutoFit/>
          </a:bodyPr>
          <a:lstStyle/>
          <a:p>
            <a:pPr algn="l"/>
            <a:r>
              <a:rPr sz="1100" b="1" i="0">
                <a:solidFill>
                  <a:srgbClr val="FF9900"/>
                </a:solidFill>
                <a:latin typeface="Calibri"/>
              </a:rPr>
              <a:t>• FastAPI:</a:t>
            </a:r>
          </a:p>
        </p:txBody>
      </p:sp>
      <p:sp>
        <p:nvSpPr>
          <p:cNvPr id="29" name="TextBox 28"/>
          <p:cNvSpPr txBox="1"/>
          <p:nvPr/>
        </p:nvSpPr>
        <p:spPr>
          <a:xfrm>
            <a:off x="8321040" y="1847088"/>
            <a:ext cx="3383280" cy="347472"/>
          </a:xfrm>
          <a:prstGeom prst="rect">
            <a:avLst/>
          </a:prstGeom>
          <a:noFill/>
        </p:spPr>
        <p:txBody>
          <a:bodyPr wrap="square">
            <a:spAutoFit/>
          </a:bodyPr>
          <a:lstStyle/>
          <a:p>
            <a:pPr algn="l"/>
            <a:r>
              <a:rPr sz="1100" b="0" i="0">
                <a:solidFill>
                  <a:srgbClr val="E5F2FF"/>
                </a:solidFill>
                <a:latin typeface="Calibri"/>
              </a:rPr>
              <a:t>Python async REST framework</a:t>
            </a:r>
          </a:p>
        </p:txBody>
      </p:sp>
      <p:sp>
        <p:nvSpPr>
          <p:cNvPr id="30" name="TextBox 29"/>
          <p:cNvSpPr txBox="1"/>
          <p:nvPr/>
        </p:nvSpPr>
        <p:spPr>
          <a:xfrm>
            <a:off x="6446520" y="2240280"/>
            <a:ext cx="1828800" cy="347472"/>
          </a:xfrm>
          <a:prstGeom prst="rect">
            <a:avLst/>
          </a:prstGeom>
          <a:noFill/>
        </p:spPr>
        <p:txBody>
          <a:bodyPr wrap="square">
            <a:spAutoFit/>
          </a:bodyPr>
          <a:lstStyle/>
          <a:p>
            <a:pPr algn="l"/>
            <a:r>
              <a:rPr sz="1100" b="1" i="0">
                <a:solidFill>
                  <a:srgbClr val="FF9900"/>
                </a:solidFill>
                <a:latin typeface="Calibri"/>
              </a:rPr>
              <a:t>• Docker:</a:t>
            </a:r>
          </a:p>
        </p:txBody>
      </p:sp>
      <p:sp>
        <p:nvSpPr>
          <p:cNvPr id="31" name="TextBox 30"/>
          <p:cNvSpPr txBox="1"/>
          <p:nvPr/>
        </p:nvSpPr>
        <p:spPr>
          <a:xfrm>
            <a:off x="8321040" y="2240280"/>
            <a:ext cx="3383280" cy="347472"/>
          </a:xfrm>
          <a:prstGeom prst="rect">
            <a:avLst/>
          </a:prstGeom>
          <a:noFill/>
        </p:spPr>
        <p:txBody>
          <a:bodyPr wrap="square">
            <a:spAutoFit/>
          </a:bodyPr>
          <a:lstStyle/>
          <a:p>
            <a:pPr algn="l"/>
            <a:r>
              <a:rPr sz="1100" b="0" i="0">
                <a:solidFill>
                  <a:srgbClr val="E5F2FF"/>
                </a:solidFill>
                <a:latin typeface="Calibri"/>
              </a:rPr>
              <a:t>Containerised, horizontally scalable</a:t>
            </a:r>
          </a:p>
        </p:txBody>
      </p:sp>
      <p:sp>
        <p:nvSpPr>
          <p:cNvPr id="32" name="TextBox 31"/>
          <p:cNvSpPr txBox="1"/>
          <p:nvPr/>
        </p:nvSpPr>
        <p:spPr>
          <a:xfrm>
            <a:off x="6446520" y="2633472"/>
            <a:ext cx="1828800" cy="347472"/>
          </a:xfrm>
          <a:prstGeom prst="rect">
            <a:avLst/>
          </a:prstGeom>
          <a:noFill/>
        </p:spPr>
        <p:txBody>
          <a:bodyPr wrap="square">
            <a:spAutoFit/>
          </a:bodyPr>
          <a:lstStyle/>
          <a:p>
            <a:pPr algn="l"/>
            <a:r>
              <a:rPr sz="1100" b="1" i="0">
                <a:solidFill>
                  <a:srgbClr val="FF9900"/>
                </a:solidFill>
                <a:latin typeface="Calibri"/>
              </a:rPr>
              <a:t>• PyTorch / ONNX:</a:t>
            </a:r>
          </a:p>
        </p:txBody>
      </p:sp>
      <p:sp>
        <p:nvSpPr>
          <p:cNvPr id="33" name="TextBox 32"/>
          <p:cNvSpPr txBox="1"/>
          <p:nvPr/>
        </p:nvSpPr>
        <p:spPr>
          <a:xfrm>
            <a:off x="8321040" y="2633472"/>
            <a:ext cx="3383280" cy="347472"/>
          </a:xfrm>
          <a:prstGeom prst="rect">
            <a:avLst/>
          </a:prstGeom>
          <a:noFill/>
        </p:spPr>
        <p:txBody>
          <a:bodyPr wrap="square">
            <a:spAutoFit/>
          </a:bodyPr>
          <a:lstStyle/>
          <a:p>
            <a:pPr algn="l"/>
            <a:r>
              <a:rPr sz="1100" b="0" i="0">
                <a:solidFill>
                  <a:srgbClr val="E5F2FF"/>
                </a:solidFill>
                <a:latin typeface="Calibri"/>
              </a:rPr>
              <a:t>Model inference (swappable)</a:t>
            </a:r>
          </a:p>
        </p:txBody>
      </p:sp>
      <p:sp>
        <p:nvSpPr>
          <p:cNvPr id="34" name="TextBox 33"/>
          <p:cNvSpPr txBox="1"/>
          <p:nvPr/>
        </p:nvSpPr>
        <p:spPr>
          <a:xfrm>
            <a:off x="6446520" y="3026664"/>
            <a:ext cx="1828800" cy="347472"/>
          </a:xfrm>
          <a:prstGeom prst="rect">
            <a:avLst/>
          </a:prstGeom>
          <a:noFill/>
        </p:spPr>
        <p:txBody>
          <a:bodyPr wrap="square">
            <a:spAutoFit/>
          </a:bodyPr>
          <a:lstStyle/>
          <a:p>
            <a:pPr algn="l"/>
            <a:r>
              <a:rPr sz="1100" b="1" i="0">
                <a:solidFill>
                  <a:srgbClr val="FF9900"/>
                </a:solidFill>
                <a:latin typeface="Calibri"/>
              </a:rPr>
              <a:t>• Google Cloud Run:</a:t>
            </a:r>
          </a:p>
        </p:txBody>
      </p:sp>
      <p:sp>
        <p:nvSpPr>
          <p:cNvPr id="35" name="TextBox 34"/>
          <p:cNvSpPr txBox="1"/>
          <p:nvPr/>
        </p:nvSpPr>
        <p:spPr>
          <a:xfrm>
            <a:off x="8321040" y="3026664"/>
            <a:ext cx="3383280" cy="347472"/>
          </a:xfrm>
          <a:prstGeom prst="rect">
            <a:avLst/>
          </a:prstGeom>
          <a:noFill/>
        </p:spPr>
        <p:txBody>
          <a:bodyPr wrap="square">
            <a:spAutoFit/>
          </a:bodyPr>
          <a:lstStyle/>
          <a:p>
            <a:pPr algn="l"/>
            <a:r>
              <a:rPr sz="1100" b="0" i="0">
                <a:solidFill>
                  <a:srgbClr val="E5F2FF"/>
                </a:solidFill>
                <a:latin typeface="Calibri"/>
              </a:rPr>
              <a:t>Serverless deployment target</a:t>
            </a:r>
          </a:p>
        </p:txBody>
      </p:sp>
      <p:sp>
        <p:nvSpPr>
          <p:cNvPr id="36" name="TextBox 35"/>
          <p:cNvSpPr txBox="1"/>
          <p:nvPr/>
        </p:nvSpPr>
        <p:spPr>
          <a:xfrm>
            <a:off x="6446520" y="3419856"/>
            <a:ext cx="1828800" cy="347472"/>
          </a:xfrm>
          <a:prstGeom prst="rect">
            <a:avLst/>
          </a:prstGeom>
          <a:noFill/>
        </p:spPr>
        <p:txBody>
          <a:bodyPr wrap="square">
            <a:spAutoFit/>
          </a:bodyPr>
          <a:lstStyle/>
          <a:p>
            <a:pPr algn="l"/>
            <a:r>
              <a:rPr sz="1100" b="1" i="0">
                <a:solidFill>
                  <a:srgbClr val="FF9900"/>
                </a:solidFill>
                <a:latin typeface="Calibri"/>
              </a:rPr>
              <a:t>• Pydantic:</a:t>
            </a:r>
          </a:p>
        </p:txBody>
      </p:sp>
      <p:sp>
        <p:nvSpPr>
          <p:cNvPr id="37" name="TextBox 36"/>
          <p:cNvSpPr txBox="1"/>
          <p:nvPr/>
        </p:nvSpPr>
        <p:spPr>
          <a:xfrm>
            <a:off x="8321040" y="3419856"/>
            <a:ext cx="3383280" cy="347472"/>
          </a:xfrm>
          <a:prstGeom prst="rect">
            <a:avLst/>
          </a:prstGeom>
          <a:noFill/>
        </p:spPr>
        <p:txBody>
          <a:bodyPr wrap="square">
            <a:spAutoFit/>
          </a:bodyPr>
          <a:lstStyle/>
          <a:p>
            <a:pPr algn="l"/>
            <a:r>
              <a:rPr sz="1100" b="0" i="0">
                <a:solidFill>
                  <a:srgbClr val="E5F2FF"/>
                </a:solidFill>
                <a:latin typeface="Calibri"/>
              </a:rPr>
              <a:t>Schema validation &amp; type safety</a:t>
            </a:r>
          </a:p>
        </p:txBody>
      </p:sp>
      <p:sp>
        <p:nvSpPr>
          <p:cNvPr id="38" name="Rectangle 37"/>
          <p:cNvSpPr/>
          <p:nvPr/>
        </p:nvSpPr>
        <p:spPr>
          <a:xfrm>
            <a:off x="6309360" y="3858768"/>
            <a:ext cx="5605272" cy="263347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3931920"/>
            <a:ext cx="5303520" cy="347472"/>
          </a:xfrm>
          <a:prstGeom prst="rect">
            <a:avLst/>
          </a:prstGeom>
          <a:noFill/>
        </p:spPr>
        <p:txBody>
          <a:bodyPr wrap="square">
            <a:spAutoFit/>
          </a:bodyPr>
          <a:lstStyle/>
          <a:p>
            <a:pPr algn="l"/>
            <a:r>
              <a:rPr sz="1100" b="1" i="0">
                <a:solidFill>
                  <a:srgbClr val="FF9900"/>
                </a:solidFill>
                <a:latin typeface="Calibri"/>
              </a:rPr>
              <a:t>📤  Sample API Response</a:t>
            </a:r>
          </a:p>
        </p:txBody>
      </p:sp>
      <p:sp>
        <p:nvSpPr>
          <p:cNvPr id="40" name="TextBox 39"/>
          <p:cNvSpPr txBox="1"/>
          <p:nvPr/>
        </p:nvSpPr>
        <p:spPr>
          <a:xfrm>
            <a:off x="6446520" y="4325112"/>
            <a:ext cx="5349240" cy="2084831"/>
          </a:xfrm>
          <a:prstGeom prst="rect">
            <a:avLst/>
          </a:prstGeom>
          <a:noFill/>
        </p:spPr>
        <p:txBody>
          <a:bodyPr wrap="square">
            <a:spAutoFit/>
          </a:bodyPr>
          <a:lstStyle/>
          <a:p>
            <a:pPr algn="l"/>
            <a:r>
              <a:rPr sz="900" b="0" i="0">
                <a:solidFill>
                  <a:srgbClr val="009966"/>
                </a:solidFill>
                <a:latin typeface="Calibri"/>
              </a:rPr>
              <a:t>{
  "content_type": "document",
  "ai_probability": 0.94,
  "risk_level": "HIGH",
  "flags": [
    "pixel_anomaly_detected",
    "metadata_timestamp_mismatch",
    "font_inconsistency"
  ],
  "sar_tag": "FIN-2024-DEEPFAKEFRAUD",
  "latency_ms": 4.2
}</a:t>
            </a:r>
          </a:p>
        </p:txBody>
      </p:sp>
      <p:sp>
        <p:nvSpPr>
          <p:cNvPr id="41" name="Rectangle 40"/>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Deployment Roadmap</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Phased rollout aligned with Citi's Technology Strategy North Star</a:t>
            </a:r>
          </a:p>
        </p:txBody>
      </p:sp>
      <p:sp>
        <p:nvSpPr>
          <p:cNvPr id="6" name="Rectangle 5"/>
          <p:cNvSpPr/>
          <p:nvPr/>
        </p:nvSpPr>
        <p:spPr>
          <a:xfrm>
            <a:off x="274320" y="1298448"/>
            <a:ext cx="11640312" cy="16459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216152"/>
            <a:ext cx="201168" cy="32918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82112" y="1216152"/>
            <a:ext cx="201168" cy="32918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9904" y="1216152"/>
            <a:ext cx="201168" cy="32918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97696" y="1216152"/>
            <a:ext cx="201168" cy="32918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554480"/>
            <a:ext cx="2743200" cy="49377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554480"/>
            <a:ext cx="2743200" cy="77724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609344"/>
            <a:ext cx="2560320" cy="475488"/>
          </a:xfrm>
          <a:prstGeom prst="rect">
            <a:avLst/>
          </a:prstGeom>
          <a:noFill/>
        </p:spPr>
        <p:txBody>
          <a:bodyPr wrap="square">
            <a:spAutoFit/>
          </a:bodyPr>
          <a:lstStyle/>
          <a:p>
            <a:pPr algn="ctr"/>
            <a:r>
              <a:rPr sz="1200" b="1" i="0">
                <a:solidFill>
                  <a:srgbClr val="FFFFFF"/>
                </a:solidFill>
                <a:latin typeface="Calibri"/>
              </a:rPr>
              <a:t>Phase 1
Hackathon MVP</a:t>
            </a:r>
          </a:p>
        </p:txBody>
      </p:sp>
      <p:sp>
        <p:nvSpPr>
          <p:cNvPr id="14" name="TextBox 13"/>
          <p:cNvSpPr txBox="1"/>
          <p:nvPr/>
        </p:nvSpPr>
        <p:spPr>
          <a:xfrm>
            <a:off x="365760" y="2331720"/>
            <a:ext cx="2560320" cy="292608"/>
          </a:xfrm>
          <a:prstGeom prst="rect">
            <a:avLst/>
          </a:prstGeom>
          <a:noFill/>
        </p:spPr>
        <p:txBody>
          <a:bodyPr wrap="square">
            <a:spAutoFit/>
          </a:bodyPr>
          <a:lstStyle/>
          <a:p>
            <a:pPr algn="ctr"/>
            <a:r>
              <a:rPr sz="1000" b="0" i="0">
                <a:solidFill>
                  <a:srgbClr val="002266"/>
                </a:solidFill>
                <a:latin typeface="Calibri"/>
              </a:rPr>
              <a:t>Weeks 1–2</a:t>
            </a:r>
          </a:p>
        </p:txBody>
      </p:sp>
      <p:sp>
        <p:nvSpPr>
          <p:cNvPr id="15" name="TextBox 14"/>
          <p:cNvSpPr txBox="1"/>
          <p:nvPr/>
        </p:nvSpPr>
        <p:spPr>
          <a:xfrm>
            <a:off x="384048" y="2724912"/>
            <a:ext cx="2542032" cy="621792"/>
          </a:xfrm>
          <a:prstGeom prst="rect">
            <a:avLst/>
          </a:prstGeom>
          <a:noFill/>
        </p:spPr>
        <p:txBody>
          <a:bodyPr wrap="square">
            <a:spAutoFit/>
          </a:bodyPr>
          <a:lstStyle/>
          <a:p>
            <a:pPr algn="l"/>
            <a:r>
              <a:rPr sz="1000" b="0" i="0">
                <a:solidFill>
                  <a:srgbClr val="333333"/>
                </a:solidFill>
                <a:latin typeface="Calibri"/>
              </a:rPr>
              <a:t>• FastAPI microservice (4 endpoints)</a:t>
            </a:r>
          </a:p>
        </p:txBody>
      </p:sp>
      <p:sp>
        <p:nvSpPr>
          <p:cNvPr id="16" name="TextBox 15"/>
          <p:cNvSpPr txBox="1"/>
          <p:nvPr/>
        </p:nvSpPr>
        <p:spPr>
          <a:xfrm>
            <a:off x="384048" y="3410712"/>
            <a:ext cx="2542032" cy="621792"/>
          </a:xfrm>
          <a:prstGeom prst="rect">
            <a:avLst/>
          </a:prstGeom>
          <a:noFill/>
        </p:spPr>
        <p:txBody>
          <a:bodyPr wrap="square">
            <a:spAutoFit/>
          </a:bodyPr>
          <a:lstStyle/>
          <a:p>
            <a:pPr algn="l"/>
            <a:r>
              <a:rPr sz="1000" b="0" i="0">
                <a:solidFill>
                  <a:srgbClr val="333333"/>
                </a:solidFill>
                <a:latin typeface="Calibri"/>
              </a:rPr>
              <a:t>• Docker containerised, Google Cloud Ready</a:t>
            </a:r>
          </a:p>
        </p:txBody>
      </p:sp>
      <p:sp>
        <p:nvSpPr>
          <p:cNvPr id="17" name="TextBox 16"/>
          <p:cNvSpPr txBox="1"/>
          <p:nvPr/>
        </p:nvSpPr>
        <p:spPr>
          <a:xfrm>
            <a:off x="384048" y="4096512"/>
            <a:ext cx="2542032" cy="621792"/>
          </a:xfrm>
          <a:prstGeom prst="rect">
            <a:avLst/>
          </a:prstGeom>
          <a:noFill/>
        </p:spPr>
        <p:txBody>
          <a:bodyPr wrap="square">
            <a:spAutoFit/>
          </a:bodyPr>
          <a:lstStyle/>
          <a:p>
            <a:pPr algn="l"/>
            <a:r>
              <a:rPr sz="1000" b="0" i="0">
                <a:solidFill>
                  <a:srgbClr val="333333"/>
                </a:solidFill>
                <a:latin typeface="Calibri"/>
              </a:rPr>
              <a:t>• Placeholder models — architecture proven</a:t>
            </a:r>
          </a:p>
        </p:txBody>
      </p:sp>
      <p:sp>
        <p:nvSpPr>
          <p:cNvPr id="18" name="TextBox 17"/>
          <p:cNvSpPr txBox="1"/>
          <p:nvPr/>
        </p:nvSpPr>
        <p:spPr>
          <a:xfrm>
            <a:off x="384048" y="4782312"/>
            <a:ext cx="2542032" cy="621792"/>
          </a:xfrm>
          <a:prstGeom prst="rect">
            <a:avLst/>
          </a:prstGeom>
          <a:noFill/>
        </p:spPr>
        <p:txBody>
          <a:bodyPr wrap="square">
            <a:spAutoFit/>
          </a:bodyPr>
          <a:lstStyle/>
          <a:p>
            <a:pPr algn="l"/>
            <a:r>
              <a:rPr sz="1000" b="0" i="0">
                <a:solidFill>
                  <a:srgbClr val="333333"/>
                </a:solidFill>
                <a:latin typeface="Calibri"/>
              </a:rPr>
              <a:t>• OpenAPI spec for CitiDirect integration</a:t>
            </a:r>
          </a:p>
        </p:txBody>
      </p:sp>
      <p:sp>
        <p:nvSpPr>
          <p:cNvPr id="19" name="TextBox 18"/>
          <p:cNvSpPr txBox="1"/>
          <p:nvPr/>
        </p:nvSpPr>
        <p:spPr>
          <a:xfrm>
            <a:off x="384048" y="5468112"/>
            <a:ext cx="2542032" cy="621792"/>
          </a:xfrm>
          <a:prstGeom prst="rect">
            <a:avLst/>
          </a:prstGeom>
          <a:noFill/>
        </p:spPr>
        <p:txBody>
          <a:bodyPr wrap="square">
            <a:spAutoFit/>
          </a:bodyPr>
          <a:lstStyle/>
          <a:p>
            <a:pPr algn="l"/>
            <a:r>
              <a:rPr sz="1000" b="0" i="0">
                <a:solidFill>
                  <a:srgbClr val="333333"/>
                </a:solidFill>
                <a:latin typeface="Calibri"/>
              </a:rPr>
              <a:t>• Demo-ready risk scoring output</a:t>
            </a:r>
          </a:p>
        </p:txBody>
      </p:sp>
      <p:sp>
        <p:nvSpPr>
          <p:cNvPr id="20" name="Rectangle 19"/>
          <p:cNvSpPr/>
          <p:nvPr/>
        </p:nvSpPr>
        <p:spPr>
          <a:xfrm>
            <a:off x="3182112" y="1554480"/>
            <a:ext cx="2743200" cy="49377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182112" y="1554480"/>
            <a:ext cx="2743200" cy="7772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73552" y="1609344"/>
            <a:ext cx="2560320" cy="475488"/>
          </a:xfrm>
          <a:prstGeom prst="rect">
            <a:avLst/>
          </a:prstGeom>
          <a:noFill/>
        </p:spPr>
        <p:txBody>
          <a:bodyPr wrap="square">
            <a:spAutoFit/>
          </a:bodyPr>
          <a:lstStyle/>
          <a:p>
            <a:pPr algn="ctr"/>
            <a:r>
              <a:rPr sz="1200" b="1" i="0">
                <a:solidFill>
                  <a:srgbClr val="FFFFFF"/>
                </a:solidFill>
                <a:latin typeface="Calibri"/>
              </a:rPr>
              <a:t>Phase 2
Pilot Integration</a:t>
            </a:r>
          </a:p>
        </p:txBody>
      </p:sp>
      <p:sp>
        <p:nvSpPr>
          <p:cNvPr id="23" name="TextBox 22"/>
          <p:cNvSpPr txBox="1"/>
          <p:nvPr/>
        </p:nvSpPr>
        <p:spPr>
          <a:xfrm>
            <a:off x="3273552" y="2331720"/>
            <a:ext cx="2560320" cy="292608"/>
          </a:xfrm>
          <a:prstGeom prst="rect">
            <a:avLst/>
          </a:prstGeom>
          <a:noFill/>
        </p:spPr>
        <p:txBody>
          <a:bodyPr wrap="square">
            <a:spAutoFit/>
          </a:bodyPr>
          <a:lstStyle/>
          <a:p>
            <a:pPr algn="ctr"/>
            <a:r>
              <a:rPr sz="1000" b="0" i="0">
                <a:solidFill>
                  <a:srgbClr val="002266"/>
                </a:solidFill>
                <a:latin typeface="Calibri"/>
              </a:rPr>
              <a:t>Months 1–3</a:t>
            </a:r>
          </a:p>
        </p:txBody>
      </p:sp>
      <p:sp>
        <p:nvSpPr>
          <p:cNvPr id="24" name="TextBox 23"/>
          <p:cNvSpPr txBox="1"/>
          <p:nvPr/>
        </p:nvSpPr>
        <p:spPr>
          <a:xfrm>
            <a:off x="3291840" y="2724912"/>
            <a:ext cx="2542032" cy="621792"/>
          </a:xfrm>
          <a:prstGeom prst="rect">
            <a:avLst/>
          </a:prstGeom>
          <a:noFill/>
        </p:spPr>
        <p:txBody>
          <a:bodyPr wrap="square">
            <a:spAutoFit/>
          </a:bodyPr>
          <a:lstStyle/>
          <a:p>
            <a:pPr algn="l"/>
            <a:r>
              <a:rPr sz="1000" b="0" i="0">
                <a:solidFill>
                  <a:srgbClr val="333333"/>
                </a:solidFill>
                <a:latin typeface="Calibri"/>
              </a:rPr>
              <a:t>• Production ML models integrated (PyTorch)</a:t>
            </a:r>
          </a:p>
        </p:txBody>
      </p:sp>
      <p:sp>
        <p:nvSpPr>
          <p:cNvPr id="25" name="TextBox 24"/>
          <p:cNvSpPr txBox="1"/>
          <p:nvPr/>
        </p:nvSpPr>
        <p:spPr>
          <a:xfrm>
            <a:off x="3291840" y="3410712"/>
            <a:ext cx="2542032" cy="621792"/>
          </a:xfrm>
          <a:prstGeom prst="rect">
            <a:avLst/>
          </a:prstGeom>
          <a:noFill/>
        </p:spPr>
        <p:txBody>
          <a:bodyPr wrap="square">
            <a:spAutoFit/>
          </a:bodyPr>
          <a:lstStyle/>
          <a:p>
            <a:pPr algn="l"/>
            <a:r>
              <a:rPr sz="1000" b="0" i="0">
                <a:solidFill>
                  <a:srgbClr val="333333"/>
                </a:solidFill>
                <a:latin typeface="Calibri"/>
              </a:rPr>
              <a:t>• CitiDirect® API gateway connection</a:t>
            </a:r>
          </a:p>
        </p:txBody>
      </p:sp>
      <p:sp>
        <p:nvSpPr>
          <p:cNvPr id="26" name="TextBox 25"/>
          <p:cNvSpPr txBox="1"/>
          <p:nvPr/>
        </p:nvSpPr>
        <p:spPr>
          <a:xfrm>
            <a:off x="3291840" y="4096512"/>
            <a:ext cx="2542032" cy="621792"/>
          </a:xfrm>
          <a:prstGeom prst="rect">
            <a:avLst/>
          </a:prstGeom>
          <a:noFill/>
        </p:spPr>
        <p:txBody>
          <a:bodyPr wrap="square">
            <a:spAutoFit/>
          </a:bodyPr>
          <a:lstStyle/>
          <a:p>
            <a:pPr algn="l"/>
            <a:r>
              <a:rPr sz="1000" b="0" i="0">
                <a:solidFill>
                  <a:srgbClr val="333333"/>
                </a:solidFill>
                <a:latin typeface="Calibri"/>
              </a:rPr>
              <a:t>• Citi Stylus pipeline hook-in</a:t>
            </a:r>
          </a:p>
        </p:txBody>
      </p:sp>
      <p:sp>
        <p:nvSpPr>
          <p:cNvPr id="27" name="TextBox 26"/>
          <p:cNvSpPr txBox="1"/>
          <p:nvPr/>
        </p:nvSpPr>
        <p:spPr>
          <a:xfrm>
            <a:off x="3291840" y="4782312"/>
            <a:ext cx="2542032" cy="621792"/>
          </a:xfrm>
          <a:prstGeom prst="rect">
            <a:avLst/>
          </a:prstGeom>
          <a:noFill/>
        </p:spPr>
        <p:txBody>
          <a:bodyPr wrap="square">
            <a:spAutoFit/>
          </a:bodyPr>
          <a:lstStyle/>
          <a:p>
            <a:pPr algn="l"/>
            <a:r>
              <a:rPr sz="1000" b="0" i="0">
                <a:solidFill>
                  <a:srgbClr val="333333"/>
                </a:solidFill>
                <a:latin typeface="Calibri"/>
              </a:rPr>
              <a:t>• Helix model governance registration</a:t>
            </a:r>
          </a:p>
        </p:txBody>
      </p:sp>
      <p:sp>
        <p:nvSpPr>
          <p:cNvPr id="28" name="TextBox 27"/>
          <p:cNvSpPr txBox="1"/>
          <p:nvPr/>
        </p:nvSpPr>
        <p:spPr>
          <a:xfrm>
            <a:off x="3291840" y="5468112"/>
            <a:ext cx="2542032" cy="621792"/>
          </a:xfrm>
          <a:prstGeom prst="rect">
            <a:avLst/>
          </a:prstGeom>
          <a:noFill/>
        </p:spPr>
        <p:txBody>
          <a:bodyPr wrap="square">
            <a:spAutoFit/>
          </a:bodyPr>
          <a:lstStyle/>
          <a:p>
            <a:pPr algn="l"/>
            <a:r>
              <a:rPr sz="1000" b="0" i="0">
                <a:solidFill>
                  <a:srgbClr val="333333"/>
                </a:solidFill>
                <a:latin typeface="Calibri"/>
              </a:rPr>
              <a:t>• Limited live pilot — 3 onboarding markets</a:t>
            </a:r>
          </a:p>
        </p:txBody>
      </p:sp>
      <p:sp>
        <p:nvSpPr>
          <p:cNvPr id="29" name="Rectangle 28"/>
          <p:cNvSpPr/>
          <p:nvPr/>
        </p:nvSpPr>
        <p:spPr>
          <a:xfrm>
            <a:off x="6089904" y="1554480"/>
            <a:ext cx="2743200" cy="49377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89904" y="1554480"/>
            <a:ext cx="2743200" cy="777240"/>
          </a:xfrm>
          <a:prstGeom prst="rect">
            <a:avLst/>
          </a:prstGeom>
          <a:solidFill>
            <a:srgbClr val="0055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81344" y="1609344"/>
            <a:ext cx="2560320" cy="475488"/>
          </a:xfrm>
          <a:prstGeom prst="rect">
            <a:avLst/>
          </a:prstGeom>
          <a:noFill/>
        </p:spPr>
        <p:txBody>
          <a:bodyPr wrap="square">
            <a:spAutoFit/>
          </a:bodyPr>
          <a:lstStyle/>
          <a:p>
            <a:pPr algn="ctr"/>
            <a:r>
              <a:rPr sz="1200" b="1" i="0">
                <a:solidFill>
                  <a:srgbClr val="FFFFFF"/>
                </a:solidFill>
                <a:latin typeface="Calibri"/>
              </a:rPr>
              <a:t>Phase 3
Global Rollout</a:t>
            </a:r>
          </a:p>
        </p:txBody>
      </p:sp>
      <p:sp>
        <p:nvSpPr>
          <p:cNvPr id="32" name="TextBox 31"/>
          <p:cNvSpPr txBox="1"/>
          <p:nvPr/>
        </p:nvSpPr>
        <p:spPr>
          <a:xfrm>
            <a:off x="6181344" y="2331720"/>
            <a:ext cx="2560320" cy="292608"/>
          </a:xfrm>
          <a:prstGeom prst="rect">
            <a:avLst/>
          </a:prstGeom>
          <a:noFill/>
        </p:spPr>
        <p:txBody>
          <a:bodyPr wrap="square">
            <a:spAutoFit/>
          </a:bodyPr>
          <a:lstStyle/>
          <a:p>
            <a:pPr algn="ctr"/>
            <a:r>
              <a:rPr sz="1000" b="0" i="0">
                <a:solidFill>
                  <a:srgbClr val="002266"/>
                </a:solidFill>
                <a:latin typeface="Calibri"/>
              </a:rPr>
              <a:t>Months 4–12</a:t>
            </a:r>
          </a:p>
        </p:txBody>
      </p:sp>
      <p:sp>
        <p:nvSpPr>
          <p:cNvPr id="33" name="TextBox 32"/>
          <p:cNvSpPr txBox="1"/>
          <p:nvPr/>
        </p:nvSpPr>
        <p:spPr>
          <a:xfrm>
            <a:off x="6199632" y="2724912"/>
            <a:ext cx="2542032" cy="621792"/>
          </a:xfrm>
          <a:prstGeom prst="rect">
            <a:avLst/>
          </a:prstGeom>
          <a:noFill/>
        </p:spPr>
        <p:txBody>
          <a:bodyPr wrap="square">
            <a:spAutoFit/>
          </a:bodyPr>
          <a:lstStyle/>
          <a:p>
            <a:pPr algn="l"/>
            <a:r>
              <a:rPr sz="1000" b="0" i="0">
                <a:solidFill>
                  <a:srgbClr val="333333"/>
                </a:solidFill>
                <a:latin typeface="Calibri"/>
              </a:rPr>
              <a:t>• 49-country CitiDirect deployment</a:t>
            </a:r>
          </a:p>
        </p:txBody>
      </p:sp>
      <p:sp>
        <p:nvSpPr>
          <p:cNvPr id="34" name="TextBox 33"/>
          <p:cNvSpPr txBox="1"/>
          <p:nvPr/>
        </p:nvSpPr>
        <p:spPr>
          <a:xfrm>
            <a:off x="6199632" y="3410712"/>
            <a:ext cx="2542032" cy="621792"/>
          </a:xfrm>
          <a:prstGeom prst="rect">
            <a:avLst/>
          </a:prstGeom>
          <a:noFill/>
        </p:spPr>
        <p:txBody>
          <a:bodyPr wrap="square">
            <a:spAutoFit/>
          </a:bodyPr>
          <a:lstStyle/>
          <a:p>
            <a:pPr algn="l"/>
            <a:r>
              <a:rPr sz="1000" b="0" i="0">
                <a:solidFill>
                  <a:srgbClr val="333333"/>
                </a:solidFill>
                <a:latin typeface="Calibri"/>
              </a:rPr>
              <a:t>• Perpetual KYC (pKYC) integration</a:t>
            </a:r>
          </a:p>
        </p:txBody>
      </p:sp>
      <p:sp>
        <p:nvSpPr>
          <p:cNvPr id="35" name="TextBox 34"/>
          <p:cNvSpPr txBox="1"/>
          <p:nvPr/>
        </p:nvSpPr>
        <p:spPr>
          <a:xfrm>
            <a:off x="6199632" y="4096512"/>
            <a:ext cx="2542032" cy="621792"/>
          </a:xfrm>
          <a:prstGeom prst="rect">
            <a:avLst/>
          </a:prstGeom>
          <a:noFill/>
        </p:spPr>
        <p:txBody>
          <a:bodyPr wrap="square">
            <a:spAutoFit/>
          </a:bodyPr>
          <a:lstStyle/>
          <a:p>
            <a:pPr algn="l"/>
            <a:r>
              <a:rPr sz="1000" b="0" i="0">
                <a:solidFill>
                  <a:srgbClr val="333333"/>
                </a:solidFill>
                <a:latin typeface="Calibri"/>
              </a:rPr>
              <a:t>• Automated SAR tagging pipeline live</a:t>
            </a:r>
          </a:p>
        </p:txBody>
      </p:sp>
      <p:sp>
        <p:nvSpPr>
          <p:cNvPr id="36" name="TextBox 35"/>
          <p:cNvSpPr txBox="1"/>
          <p:nvPr/>
        </p:nvSpPr>
        <p:spPr>
          <a:xfrm>
            <a:off x="6199632" y="4782312"/>
            <a:ext cx="2542032" cy="621792"/>
          </a:xfrm>
          <a:prstGeom prst="rect">
            <a:avLst/>
          </a:prstGeom>
          <a:noFill/>
        </p:spPr>
        <p:txBody>
          <a:bodyPr wrap="square">
            <a:spAutoFit/>
          </a:bodyPr>
          <a:lstStyle/>
          <a:p>
            <a:pPr algn="l"/>
            <a:r>
              <a:rPr sz="1000" b="0" i="0">
                <a:solidFill>
                  <a:srgbClr val="333333"/>
                </a:solidFill>
                <a:latin typeface="Calibri"/>
              </a:rPr>
              <a:t>• Model fine-tuning on Citi fraud data</a:t>
            </a:r>
          </a:p>
        </p:txBody>
      </p:sp>
      <p:sp>
        <p:nvSpPr>
          <p:cNvPr id="37" name="TextBox 36"/>
          <p:cNvSpPr txBox="1"/>
          <p:nvPr/>
        </p:nvSpPr>
        <p:spPr>
          <a:xfrm>
            <a:off x="6199632" y="5468112"/>
            <a:ext cx="2542032" cy="621792"/>
          </a:xfrm>
          <a:prstGeom prst="rect">
            <a:avLst/>
          </a:prstGeom>
          <a:noFill/>
        </p:spPr>
        <p:txBody>
          <a:bodyPr wrap="square">
            <a:spAutoFit/>
          </a:bodyPr>
          <a:lstStyle/>
          <a:p>
            <a:pPr algn="l"/>
            <a:r>
              <a:rPr sz="1000" b="0" i="0">
                <a:solidFill>
                  <a:srgbClr val="333333"/>
                </a:solidFill>
                <a:latin typeface="Calibri"/>
              </a:rPr>
              <a:t>• Regulatory explainability dashboard</a:t>
            </a:r>
          </a:p>
        </p:txBody>
      </p:sp>
      <p:sp>
        <p:nvSpPr>
          <p:cNvPr id="38" name="Rectangle 37"/>
          <p:cNvSpPr/>
          <p:nvPr/>
        </p:nvSpPr>
        <p:spPr>
          <a:xfrm>
            <a:off x="8997696" y="1554480"/>
            <a:ext cx="2743200" cy="49377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97696" y="1554480"/>
            <a:ext cx="2743200" cy="777240"/>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89136" y="1609344"/>
            <a:ext cx="2560320" cy="475488"/>
          </a:xfrm>
          <a:prstGeom prst="rect">
            <a:avLst/>
          </a:prstGeom>
          <a:noFill/>
        </p:spPr>
        <p:txBody>
          <a:bodyPr wrap="square">
            <a:spAutoFit/>
          </a:bodyPr>
          <a:lstStyle/>
          <a:p>
            <a:pPr algn="ctr"/>
            <a:r>
              <a:rPr sz="1200" b="1" i="0">
                <a:solidFill>
                  <a:srgbClr val="FFFFFF"/>
                </a:solidFill>
                <a:latin typeface="Calibri"/>
              </a:rPr>
              <a:t>Phase 4
Platform Expansion</a:t>
            </a:r>
          </a:p>
        </p:txBody>
      </p:sp>
      <p:sp>
        <p:nvSpPr>
          <p:cNvPr id="41" name="TextBox 40"/>
          <p:cNvSpPr txBox="1"/>
          <p:nvPr/>
        </p:nvSpPr>
        <p:spPr>
          <a:xfrm>
            <a:off x="9089136" y="2331720"/>
            <a:ext cx="2560320" cy="292608"/>
          </a:xfrm>
          <a:prstGeom prst="rect">
            <a:avLst/>
          </a:prstGeom>
          <a:noFill/>
        </p:spPr>
        <p:txBody>
          <a:bodyPr wrap="square">
            <a:spAutoFit/>
          </a:bodyPr>
          <a:lstStyle/>
          <a:p>
            <a:pPr algn="ctr"/>
            <a:r>
              <a:rPr sz="1000" b="0" i="0">
                <a:solidFill>
                  <a:srgbClr val="002266"/>
                </a:solidFill>
                <a:latin typeface="Calibri"/>
              </a:rPr>
              <a:t>Year 2+</a:t>
            </a:r>
          </a:p>
        </p:txBody>
      </p:sp>
      <p:sp>
        <p:nvSpPr>
          <p:cNvPr id="42" name="TextBox 41"/>
          <p:cNvSpPr txBox="1"/>
          <p:nvPr/>
        </p:nvSpPr>
        <p:spPr>
          <a:xfrm>
            <a:off x="9107424" y="2724912"/>
            <a:ext cx="2542032" cy="621792"/>
          </a:xfrm>
          <a:prstGeom prst="rect">
            <a:avLst/>
          </a:prstGeom>
          <a:noFill/>
        </p:spPr>
        <p:txBody>
          <a:bodyPr wrap="square">
            <a:spAutoFit/>
          </a:bodyPr>
          <a:lstStyle/>
          <a:p>
            <a:pPr algn="l"/>
            <a:r>
              <a:rPr sz="1000" b="0" i="0">
                <a:solidFill>
                  <a:srgbClr val="333333"/>
                </a:solidFill>
                <a:latin typeface="Calibri"/>
              </a:rPr>
              <a:t>• Wealth &amp; Retail banking channels</a:t>
            </a:r>
          </a:p>
        </p:txBody>
      </p:sp>
      <p:sp>
        <p:nvSpPr>
          <p:cNvPr id="43" name="TextBox 42"/>
          <p:cNvSpPr txBox="1"/>
          <p:nvPr/>
        </p:nvSpPr>
        <p:spPr>
          <a:xfrm>
            <a:off x="9107424" y="3410712"/>
            <a:ext cx="2542032" cy="621792"/>
          </a:xfrm>
          <a:prstGeom prst="rect">
            <a:avLst/>
          </a:prstGeom>
          <a:noFill/>
        </p:spPr>
        <p:txBody>
          <a:bodyPr wrap="square">
            <a:spAutoFit/>
          </a:bodyPr>
          <a:lstStyle/>
          <a:p>
            <a:pPr algn="l"/>
            <a:r>
              <a:rPr sz="1000" b="0" i="0">
                <a:solidFill>
                  <a:srgbClr val="333333"/>
                </a:solidFill>
                <a:latin typeface="Calibri"/>
              </a:rPr>
              <a:t>• Real-time video call deepfake screening</a:t>
            </a:r>
          </a:p>
        </p:txBody>
      </p:sp>
      <p:sp>
        <p:nvSpPr>
          <p:cNvPr id="44" name="TextBox 43"/>
          <p:cNvSpPr txBox="1"/>
          <p:nvPr/>
        </p:nvSpPr>
        <p:spPr>
          <a:xfrm>
            <a:off x="9107424" y="4096512"/>
            <a:ext cx="2542032" cy="621792"/>
          </a:xfrm>
          <a:prstGeom prst="rect">
            <a:avLst/>
          </a:prstGeom>
          <a:noFill/>
        </p:spPr>
        <p:txBody>
          <a:bodyPr wrap="square">
            <a:spAutoFit/>
          </a:bodyPr>
          <a:lstStyle/>
          <a:p>
            <a:pPr algn="l"/>
            <a:r>
              <a:rPr sz="1000" b="0" i="0">
                <a:solidFill>
                  <a:srgbClr val="333333"/>
                </a:solidFill>
                <a:latin typeface="Calibri"/>
              </a:rPr>
              <a:t>• Client-facing trust score transparency</a:t>
            </a:r>
          </a:p>
        </p:txBody>
      </p:sp>
      <p:sp>
        <p:nvSpPr>
          <p:cNvPr id="45" name="TextBox 44"/>
          <p:cNvSpPr txBox="1"/>
          <p:nvPr/>
        </p:nvSpPr>
        <p:spPr>
          <a:xfrm>
            <a:off x="9107424" y="4782312"/>
            <a:ext cx="2542032" cy="621792"/>
          </a:xfrm>
          <a:prstGeom prst="rect">
            <a:avLst/>
          </a:prstGeom>
          <a:noFill/>
        </p:spPr>
        <p:txBody>
          <a:bodyPr wrap="square">
            <a:spAutoFit/>
          </a:bodyPr>
          <a:lstStyle/>
          <a:p>
            <a:pPr algn="l"/>
            <a:r>
              <a:rPr sz="1000" b="0" i="0">
                <a:solidFill>
                  <a:srgbClr val="333333"/>
                </a:solidFill>
                <a:latin typeface="Calibri"/>
              </a:rPr>
              <a:t>• Potential Citi product offering to clients</a:t>
            </a:r>
          </a:p>
        </p:txBody>
      </p:sp>
      <p:sp>
        <p:nvSpPr>
          <p:cNvPr id="46" name="TextBox 45"/>
          <p:cNvSpPr txBox="1"/>
          <p:nvPr/>
        </p:nvSpPr>
        <p:spPr>
          <a:xfrm>
            <a:off x="9107424" y="5468112"/>
            <a:ext cx="2542032" cy="621792"/>
          </a:xfrm>
          <a:prstGeom prst="rect">
            <a:avLst/>
          </a:prstGeom>
          <a:noFill/>
        </p:spPr>
        <p:txBody>
          <a:bodyPr wrap="square">
            <a:spAutoFit/>
          </a:bodyPr>
          <a:lstStyle/>
          <a:p>
            <a:pPr algn="l"/>
            <a:r>
              <a:rPr sz="1000" b="0" i="0">
                <a:solidFill>
                  <a:srgbClr val="333333"/>
                </a:solidFill>
                <a:latin typeface="Calibri"/>
              </a:rPr>
              <a:t>• Open-source model contribution programme</a:t>
            </a:r>
          </a:p>
        </p:txBody>
      </p:sp>
      <p:sp>
        <p:nvSpPr>
          <p:cNvPr id="47" name="Rectangle 46"/>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0058400" cy="594360"/>
          </a:xfrm>
          <a:prstGeom prst="rect">
            <a:avLst/>
          </a:prstGeom>
          <a:noFill/>
        </p:spPr>
        <p:txBody>
          <a:bodyPr wrap="square">
            <a:spAutoFit/>
          </a:bodyPr>
          <a:lstStyle/>
          <a:p>
            <a:pPr algn="l"/>
            <a:r>
              <a:rPr sz="2800" b="1" i="0">
                <a:solidFill>
                  <a:srgbClr val="FFFFFF"/>
                </a:solidFill>
                <a:latin typeface="Calibri"/>
              </a:rPr>
              <a:t>Alignment to Citi's Technology Strategy North Star</a:t>
            </a:r>
          </a:p>
        </p:txBody>
      </p:sp>
      <p:sp>
        <p:nvSpPr>
          <p:cNvPr id="5" name="TextBox 4"/>
          <p:cNvSpPr txBox="1"/>
          <p:nvPr/>
        </p:nvSpPr>
        <p:spPr>
          <a:xfrm>
            <a:off x="365760" y="658368"/>
            <a:ext cx="10058400" cy="384048"/>
          </a:xfrm>
          <a:prstGeom prst="rect">
            <a:avLst/>
          </a:prstGeom>
          <a:noFill/>
        </p:spPr>
        <p:txBody>
          <a:bodyPr wrap="square">
            <a:spAutoFit/>
          </a:bodyPr>
          <a:lstStyle/>
          <a:p>
            <a:pPr algn="l"/>
            <a:r>
              <a:rPr sz="1400" b="0" i="0">
                <a:solidFill>
                  <a:srgbClr val="E5F2FF"/>
                </a:solidFill>
                <a:latin typeface="Calibri"/>
              </a:rPr>
              <a:t>TrustGuard advances every pillar of Citi's stated strategic technology direction</a:t>
            </a:r>
          </a:p>
        </p:txBody>
      </p:sp>
      <p:sp>
        <p:nvSpPr>
          <p:cNvPr id="6" name="Rectangle 5"/>
          <p:cNvSpPr/>
          <p:nvPr/>
        </p:nvSpPr>
        <p:spPr>
          <a:xfrm>
            <a:off x="320040" y="1261872"/>
            <a:ext cx="5623560" cy="237744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261872"/>
            <a:ext cx="5623560" cy="530352"/>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35024"/>
            <a:ext cx="5303520" cy="402336"/>
          </a:xfrm>
          <a:prstGeom prst="rect">
            <a:avLst/>
          </a:prstGeom>
          <a:noFill/>
        </p:spPr>
        <p:txBody>
          <a:bodyPr wrap="square">
            <a:spAutoFit/>
          </a:bodyPr>
          <a:lstStyle/>
          <a:p>
            <a:pPr algn="l"/>
            <a:r>
              <a:rPr sz="1500" b="1" i="0">
                <a:solidFill>
                  <a:srgbClr val="FFFFFF"/>
                </a:solidFill>
                <a:latin typeface="Calibri"/>
              </a:rPr>
              <a:t>★  Security &amp;
Risk</a:t>
            </a:r>
          </a:p>
        </p:txBody>
      </p:sp>
      <p:sp>
        <p:nvSpPr>
          <p:cNvPr id="9" name="TextBox 8"/>
          <p:cNvSpPr txBox="1"/>
          <p:nvPr/>
        </p:nvSpPr>
        <p:spPr>
          <a:xfrm>
            <a:off x="457200" y="1901952"/>
            <a:ext cx="5303520" cy="1600200"/>
          </a:xfrm>
          <a:prstGeom prst="rect">
            <a:avLst/>
          </a:prstGeom>
          <a:noFill/>
        </p:spPr>
        <p:txBody>
          <a:bodyPr wrap="square">
            <a:spAutoFit/>
          </a:bodyPr>
          <a:lstStyle/>
          <a:p>
            <a:pPr algn="l"/>
            <a:r>
              <a:rPr sz="1100" b="0" i="0">
                <a:solidFill>
                  <a:srgbClr val="333333"/>
                </a:solidFill>
                <a:latin typeface="Calibri"/>
              </a:rPr>
              <a:t>Directly addresses AI-enabled fraud — Citi's #1 operational risk in digital channels. Embeds detection at the highest-value chokepoint: client onboarding. Satisfies FinCEN, FATF, EU AI Act, FCA and NYDFS requirements simultaneously.</a:t>
            </a:r>
          </a:p>
        </p:txBody>
      </p:sp>
      <p:sp>
        <p:nvSpPr>
          <p:cNvPr id="10" name="Rectangle 9"/>
          <p:cNvSpPr/>
          <p:nvPr/>
        </p:nvSpPr>
        <p:spPr>
          <a:xfrm>
            <a:off x="6217920" y="1261872"/>
            <a:ext cx="5623560" cy="237744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261872"/>
            <a:ext cx="5623560" cy="530352"/>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335024"/>
            <a:ext cx="5303520" cy="402336"/>
          </a:xfrm>
          <a:prstGeom prst="rect">
            <a:avLst/>
          </a:prstGeom>
          <a:noFill/>
        </p:spPr>
        <p:txBody>
          <a:bodyPr wrap="square">
            <a:spAutoFit/>
          </a:bodyPr>
          <a:lstStyle/>
          <a:p>
            <a:pPr algn="l"/>
            <a:r>
              <a:rPr sz="1500" b="1" i="0">
                <a:solidFill>
                  <a:srgbClr val="FFFFFF"/>
                </a:solidFill>
                <a:latin typeface="Calibri"/>
              </a:rPr>
              <a:t>★  Efficiency &amp;
Automation</a:t>
            </a:r>
          </a:p>
        </p:txBody>
      </p:sp>
      <p:sp>
        <p:nvSpPr>
          <p:cNvPr id="13" name="TextBox 12"/>
          <p:cNvSpPr txBox="1"/>
          <p:nvPr/>
        </p:nvSpPr>
        <p:spPr>
          <a:xfrm>
            <a:off x="6355080" y="1901952"/>
            <a:ext cx="5303520" cy="1600200"/>
          </a:xfrm>
          <a:prstGeom prst="rect">
            <a:avLst/>
          </a:prstGeom>
          <a:noFill/>
        </p:spPr>
        <p:txBody>
          <a:bodyPr wrap="square">
            <a:spAutoFit/>
          </a:bodyPr>
          <a:lstStyle/>
          <a:p>
            <a:pPr algn="l"/>
            <a:r>
              <a:rPr sz="1100" b="0" i="0">
                <a:solidFill>
                  <a:srgbClr val="333333"/>
                </a:solidFill>
                <a:latin typeface="Calibri"/>
              </a:rPr>
              <a:t>Automates fraud screening that currently relies on manual review. Reduces false-positive referrals for human investigators by surfacing only high-confidence AI flags. Accelerates clean-file onboarding (already cut 41% via CitiDirect digitisation).</a:t>
            </a:r>
          </a:p>
        </p:txBody>
      </p:sp>
      <p:sp>
        <p:nvSpPr>
          <p:cNvPr id="14" name="Rectangle 13"/>
          <p:cNvSpPr/>
          <p:nvPr/>
        </p:nvSpPr>
        <p:spPr>
          <a:xfrm>
            <a:off x="320040" y="3822191"/>
            <a:ext cx="5623560" cy="237744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3822191"/>
            <a:ext cx="5623560" cy="530352"/>
          </a:xfrm>
          <a:prstGeom prst="rect">
            <a:avLst/>
          </a:prstGeom>
          <a:solidFill>
            <a:srgbClr val="0077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95344"/>
            <a:ext cx="5303520" cy="402336"/>
          </a:xfrm>
          <a:prstGeom prst="rect">
            <a:avLst/>
          </a:prstGeom>
          <a:noFill/>
        </p:spPr>
        <p:txBody>
          <a:bodyPr wrap="square">
            <a:spAutoFit/>
          </a:bodyPr>
          <a:lstStyle/>
          <a:p>
            <a:pPr algn="l"/>
            <a:r>
              <a:rPr sz="1500" b="1" i="0">
                <a:solidFill>
                  <a:srgbClr val="FFFFFF"/>
                </a:solidFill>
                <a:latin typeface="Calibri"/>
              </a:rPr>
              <a:t>★  Client
Experience</a:t>
            </a:r>
          </a:p>
        </p:txBody>
      </p:sp>
      <p:sp>
        <p:nvSpPr>
          <p:cNvPr id="17" name="TextBox 16"/>
          <p:cNvSpPr txBox="1"/>
          <p:nvPr/>
        </p:nvSpPr>
        <p:spPr>
          <a:xfrm>
            <a:off x="457200" y="4462272"/>
            <a:ext cx="5303520" cy="1600200"/>
          </a:xfrm>
          <a:prstGeom prst="rect">
            <a:avLst/>
          </a:prstGeom>
          <a:noFill/>
        </p:spPr>
        <p:txBody>
          <a:bodyPr wrap="square">
            <a:spAutoFit/>
          </a:bodyPr>
          <a:lstStyle/>
          <a:p>
            <a:pPr algn="l"/>
            <a:r>
              <a:rPr sz="1100" b="0" i="0">
                <a:solidFill>
                  <a:srgbClr val="333333"/>
                </a:solidFill>
                <a:latin typeface="Calibri"/>
              </a:rPr>
              <a:t>Legitimate clients experience zero friction — TrustGuard is invisible for genuine submissions. Protects Citi clients from identity theft &amp; account takeover. Builds confidence in CitiDirect as a secure, trusted platform.</a:t>
            </a:r>
          </a:p>
        </p:txBody>
      </p:sp>
      <p:sp>
        <p:nvSpPr>
          <p:cNvPr id="18" name="Rectangle 17"/>
          <p:cNvSpPr/>
          <p:nvPr/>
        </p:nvSpPr>
        <p:spPr>
          <a:xfrm>
            <a:off x="6217920" y="3822191"/>
            <a:ext cx="5623560" cy="237744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822191"/>
            <a:ext cx="5623560" cy="530352"/>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3895344"/>
            <a:ext cx="5303520" cy="402336"/>
          </a:xfrm>
          <a:prstGeom prst="rect">
            <a:avLst/>
          </a:prstGeom>
          <a:noFill/>
        </p:spPr>
        <p:txBody>
          <a:bodyPr wrap="square">
            <a:spAutoFit/>
          </a:bodyPr>
          <a:lstStyle/>
          <a:p>
            <a:pPr algn="l"/>
            <a:r>
              <a:rPr sz="1500" b="1" i="0">
                <a:solidFill>
                  <a:srgbClr val="FFFFFF"/>
                </a:solidFill>
                <a:latin typeface="Calibri"/>
              </a:rPr>
              <a:t>★  Technology
Modernisation</a:t>
            </a:r>
          </a:p>
        </p:txBody>
      </p:sp>
      <p:sp>
        <p:nvSpPr>
          <p:cNvPr id="21" name="TextBox 20"/>
          <p:cNvSpPr txBox="1"/>
          <p:nvPr/>
        </p:nvSpPr>
        <p:spPr>
          <a:xfrm>
            <a:off x="6355080" y="4462272"/>
            <a:ext cx="5303520" cy="1600200"/>
          </a:xfrm>
          <a:prstGeom prst="rect">
            <a:avLst/>
          </a:prstGeom>
          <a:noFill/>
        </p:spPr>
        <p:txBody>
          <a:bodyPr wrap="square">
            <a:spAutoFit/>
          </a:bodyPr>
          <a:lstStyle/>
          <a:p>
            <a:pPr algn="l"/>
            <a:r>
              <a:rPr sz="1100" b="0" i="0">
                <a:solidFill>
                  <a:srgbClr val="333333"/>
                </a:solidFill>
                <a:latin typeface="Calibri"/>
              </a:rPr>
              <a:t>Built cloud-native on Google Cloud (existing Citi partnership). Leverages Helix, Citi Stylus, and CitiKYC — no greenfield infrastructure. Decommissions manual review steps, advancing Citi's legacy app reduction programme.</a:t>
            </a:r>
          </a:p>
        </p:txBody>
      </p:sp>
      <p:sp>
        <p:nvSpPr>
          <p:cNvPr id="22" name="Rectangle 21"/>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TrustGuard  |  February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645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88952" cy="1645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1371600"/>
          </a:xfrm>
          <a:prstGeom prst="rect">
            <a:avLst/>
          </a:prstGeom>
          <a:noFill/>
        </p:spPr>
        <p:txBody>
          <a:bodyPr wrap="square">
            <a:spAutoFit/>
          </a:bodyPr>
          <a:lstStyle/>
          <a:p>
            <a:pPr algn="ctr"/>
            <a:r>
              <a:rPr sz="6000" b="1" i="0">
                <a:solidFill>
                  <a:srgbClr val="FFFFFF"/>
                </a:solidFill>
                <a:latin typeface="Calibri"/>
              </a:rPr>
              <a:t>TrustGuard</a:t>
            </a:r>
          </a:p>
        </p:txBody>
      </p:sp>
      <p:sp>
        <p:nvSpPr>
          <p:cNvPr id="6" name="TextBox 5"/>
          <p:cNvSpPr txBox="1"/>
          <p:nvPr/>
        </p:nvSpPr>
        <p:spPr>
          <a:xfrm>
            <a:off x="731520" y="2560320"/>
            <a:ext cx="10698480" cy="640080"/>
          </a:xfrm>
          <a:prstGeom prst="rect">
            <a:avLst/>
          </a:prstGeom>
          <a:noFill/>
        </p:spPr>
        <p:txBody>
          <a:bodyPr wrap="square">
            <a:spAutoFit/>
          </a:bodyPr>
          <a:lstStyle/>
          <a:p>
            <a:pPr algn="ctr"/>
            <a:r>
              <a:rPr sz="2200" b="0" i="0">
                <a:solidFill>
                  <a:srgbClr val="E5F2FF"/>
                </a:solidFill>
                <a:latin typeface="Calibri"/>
              </a:rPr>
              <a:t>Restoring Digital Trust to Citibank's KYC Pipeline</a:t>
            </a:r>
          </a:p>
        </p:txBody>
      </p:sp>
      <p:sp>
        <p:nvSpPr>
          <p:cNvPr id="7" name="Rectangle 6"/>
          <p:cNvSpPr/>
          <p:nvPr/>
        </p:nvSpPr>
        <p:spPr>
          <a:xfrm>
            <a:off x="3200400" y="3337560"/>
            <a:ext cx="5788152"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520440"/>
            <a:ext cx="9418320" cy="438912"/>
          </a:xfrm>
          <a:prstGeom prst="rect">
            <a:avLst/>
          </a:prstGeom>
          <a:noFill/>
        </p:spPr>
        <p:txBody>
          <a:bodyPr wrap="square">
            <a:spAutoFit/>
          </a:bodyPr>
          <a:lstStyle/>
          <a:p>
            <a:pPr algn="ctr"/>
            <a:r>
              <a:rPr sz="1300" b="0" i="0">
                <a:solidFill>
                  <a:srgbClr val="FFFFFF"/>
                </a:solidFill>
                <a:latin typeface="Calibri"/>
              </a:rPr>
              <a:t>✓  Multi-modal AI detection: documents, images, audio, text, and behaviour</a:t>
            </a:r>
          </a:p>
        </p:txBody>
      </p:sp>
      <p:sp>
        <p:nvSpPr>
          <p:cNvPr id="9" name="TextBox 8"/>
          <p:cNvSpPr txBox="1"/>
          <p:nvPr/>
        </p:nvSpPr>
        <p:spPr>
          <a:xfrm>
            <a:off x="1371600" y="3995928"/>
            <a:ext cx="9418320" cy="438912"/>
          </a:xfrm>
          <a:prstGeom prst="rect">
            <a:avLst/>
          </a:prstGeom>
          <a:noFill/>
        </p:spPr>
        <p:txBody>
          <a:bodyPr wrap="square">
            <a:spAutoFit/>
          </a:bodyPr>
          <a:lstStyle/>
          <a:p>
            <a:pPr algn="ctr"/>
            <a:r>
              <a:rPr sz="1300" b="0" i="0">
                <a:solidFill>
                  <a:srgbClr val="FFFFFF"/>
                </a:solidFill>
                <a:latin typeface="Calibri"/>
              </a:rPr>
              <a:t>✓  Native integration with CitiDirect®, Citi Stylus, Helix, and Google Cloud</a:t>
            </a:r>
          </a:p>
        </p:txBody>
      </p:sp>
      <p:sp>
        <p:nvSpPr>
          <p:cNvPr id="10" name="TextBox 9"/>
          <p:cNvSpPr txBox="1"/>
          <p:nvPr/>
        </p:nvSpPr>
        <p:spPr>
          <a:xfrm>
            <a:off x="1371600" y="4471416"/>
            <a:ext cx="9418320" cy="438912"/>
          </a:xfrm>
          <a:prstGeom prst="rect">
            <a:avLst/>
          </a:prstGeom>
          <a:noFill/>
        </p:spPr>
        <p:txBody>
          <a:bodyPr wrap="square">
            <a:spAutoFit/>
          </a:bodyPr>
          <a:lstStyle/>
          <a:p>
            <a:pPr algn="ctr"/>
            <a:r>
              <a:rPr sz="1300" b="0" i="0">
                <a:solidFill>
                  <a:srgbClr val="FFFFFF"/>
                </a:solidFill>
                <a:latin typeface="Calibri"/>
              </a:rPr>
              <a:t>✓  Satisfies FinCEN FIN-2024-DEEPFAKEFRAUD and all major 2024–2025 regulations</a:t>
            </a:r>
          </a:p>
        </p:txBody>
      </p:sp>
      <p:sp>
        <p:nvSpPr>
          <p:cNvPr id="11" name="TextBox 10"/>
          <p:cNvSpPr txBox="1"/>
          <p:nvPr/>
        </p:nvSpPr>
        <p:spPr>
          <a:xfrm>
            <a:off x="1371600" y="4946904"/>
            <a:ext cx="9418320" cy="438912"/>
          </a:xfrm>
          <a:prstGeom prst="rect">
            <a:avLst/>
          </a:prstGeom>
          <a:noFill/>
        </p:spPr>
        <p:txBody>
          <a:bodyPr wrap="square">
            <a:spAutoFit/>
          </a:bodyPr>
          <a:lstStyle/>
          <a:p>
            <a:pPr algn="ctr"/>
            <a:r>
              <a:rPr sz="1300" b="0" i="0">
                <a:solidFill>
                  <a:srgbClr val="FFFFFF"/>
                </a:solidFill>
                <a:latin typeface="Calibri"/>
              </a:rPr>
              <a:t>✓  Built — not bought — protecting Citi's data sovereignty and creating strategic IP</a:t>
            </a:r>
          </a:p>
        </p:txBody>
      </p:sp>
      <p:sp>
        <p:nvSpPr>
          <p:cNvPr id="12" name="TextBox 11"/>
          <p:cNvSpPr txBox="1"/>
          <p:nvPr/>
        </p:nvSpPr>
        <p:spPr>
          <a:xfrm>
            <a:off x="1371600" y="5422392"/>
            <a:ext cx="9418320" cy="438912"/>
          </a:xfrm>
          <a:prstGeom prst="rect">
            <a:avLst/>
          </a:prstGeom>
          <a:noFill/>
        </p:spPr>
        <p:txBody>
          <a:bodyPr wrap="square">
            <a:spAutoFit/>
          </a:bodyPr>
          <a:lstStyle/>
          <a:p>
            <a:pPr algn="ctr"/>
            <a:r>
              <a:rPr sz="1300" b="0" i="0">
                <a:solidFill>
                  <a:srgbClr val="FFFFFF"/>
                </a:solidFill>
                <a:latin typeface="Calibri"/>
              </a:rPr>
              <a:t>✓  &lt;5ms latency overhead · $0.002/document · Full explainability for regulators</a:t>
            </a:r>
          </a:p>
        </p:txBody>
      </p:sp>
      <p:sp>
        <p:nvSpPr>
          <p:cNvPr id="13" name="TextBox 12"/>
          <p:cNvSpPr txBox="1"/>
          <p:nvPr/>
        </p:nvSpPr>
        <p:spPr>
          <a:xfrm>
            <a:off x="2743200" y="6080760"/>
            <a:ext cx="6702552" cy="502920"/>
          </a:xfrm>
          <a:prstGeom prst="rect">
            <a:avLst/>
          </a:prstGeom>
          <a:noFill/>
        </p:spPr>
        <p:txBody>
          <a:bodyPr wrap="square">
            <a:spAutoFit/>
          </a:bodyPr>
          <a:lstStyle/>
          <a:p>
            <a:pPr algn="ctr"/>
            <a:r>
              <a:rPr sz="1600" b="1" i="0">
                <a:solidFill>
                  <a:srgbClr val="FF9900"/>
                </a:solidFill>
                <a:latin typeface="Calibri"/>
              </a:rPr>
              <a:t>Questions &amp; Demo</a:t>
            </a:r>
          </a:p>
        </p:txBody>
      </p:sp>
      <p:sp>
        <p:nvSpPr>
          <p:cNvPr id="14" name="Rectangle 13"/>
          <p:cNvSpPr/>
          <p:nvPr/>
        </p:nvSpPr>
        <p:spPr>
          <a:xfrm>
            <a:off x="0" y="6537960"/>
            <a:ext cx="12188952" cy="320040"/>
          </a:xfrm>
          <a:prstGeom prst="rect">
            <a:avLst/>
          </a:prstGeom>
          <a:solidFill>
            <a:srgbClr val="002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556248"/>
            <a:ext cx="11612880" cy="256032"/>
          </a:xfrm>
          <a:prstGeom prst="rect">
            <a:avLst/>
          </a:prstGeom>
          <a:noFill/>
        </p:spPr>
        <p:txBody>
          <a:bodyPr wrap="square">
            <a:spAutoFit/>
          </a:bodyPr>
          <a:lstStyle/>
          <a:p>
            <a:pPr algn="ctr"/>
            <a:r>
              <a:rPr sz="900" b="0" i="0">
                <a:solidFill>
                  <a:srgbClr val="888888"/>
                </a:solidFill>
                <a:latin typeface="Calibri"/>
              </a:rPr>
              <a:t>Citibank AI Hackathon  ·  February 2026  ·  TrustGuard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